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书生·浦语（Intern-S1）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AED6F1"/>
                </a:solidFill>
                <a:latin typeface="Microsoft YaHei"/>
              </a:defRPr>
            </a:pPr>
            <a:r>
              <a:t>多智能体评测系统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291840"/>
            <a:ext cx="393192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Microsoft YaHei"/>
              </a:defRPr>
            </a:pPr>
            <a:r>
              <a:t>性能优化总结报告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ED6F1"/>
                </a:solidFill>
                <a:latin typeface="Microsoft YaHei"/>
              </a:defRPr>
            </a:pPr>
            <a:r>
              <a:t>目标：在不降低题目正确率的前提下，大幅提升评测速度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5C1E9"/>
                </a:solidFill>
                <a:latin typeface="Microsoft YaHei"/>
              </a:defRPr>
            </a:pPr>
            <a:r>
              <a:t>2026 年 7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1. 系统架构概览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ED6F1"/>
                </a:solidFill>
                <a:latin typeface="Microsoft YaHei"/>
              </a:defRPr>
            </a:pPr>
            <a:r>
              <a:t>Intern-S1 多智能体评测系统 —— 四级流水线协作推理框架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2286000" cy="1645920"/>
          </a:xfrm>
          <a:prstGeom prst="rect">
            <a:avLst/>
          </a:prstGeom>
          <a:solidFill>
            <a:srgbClr val="2471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分类器</a:t>
            </a:r>
            <a:br/>
            <a:r>
              <a:t>Classifier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BF5FB"/>
                </a:solidFill>
                <a:latin typeface="Microsoft YaHei"/>
              </a:defRPr>
            </a:pPr>
            <a:r>
              <a:t>识别题目所属</a:t>
            </a:r>
            <a:br/>
            <a:r>
              <a:t>数学领域（18类）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3774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471A3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2286000" cy="16459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9202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求解器</a:t>
            </a:r>
            <a:br/>
            <a:r>
              <a:t>Solver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743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BF5FB"/>
                </a:solidFill>
                <a:latin typeface="Microsoft YaHei"/>
              </a:defRPr>
            </a:pPr>
            <a:r>
              <a:t>蓝图分解策略</a:t>
            </a:r>
            <a:br/>
            <a:r>
              <a:t>并行生成 4 候选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3774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471A3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828800"/>
            <a:ext cx="2286000" cy="164592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9202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验证器</a:t>
            </a:r>
            <a:br/>
            <a:r>
              <a:t>Verifier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743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BF5FB"/>
                </a:solidFill>
                <a:latin typeface="Microsoft YaHei"/>
              </a:defRPr>
            </a:pPr>
            <a:r>
              <a:t>多轮投票验证</a:t>
            </a:r>
            <a:br/>
            <a:r>
              <a:t>判定正确性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3774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471A3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1828800"/>
            <a:ext cx="2286000" cy="1645920"/>
          </a:xfrm>
          <a:prstGeom prst="rect">
            <a:avLst/>
          </a:prstGeom>
          <a:solidFill>
            <a:srgbClr val="154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19202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格式化器</a:t>
            </a:r>
            <a:br/>
            <a:r>
              <a:t>Formatter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743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BF5FB"/>
                </a:solidFill>
                <a:latin typeface="Microsoft YaHei"/>
              </a:defRPr>
            </a:pPr>
            <a:r>
              <a:t>选择最高置信度</a:t>
            </a:r>
            <a:br/>
            <a:r>
              <a:t>标准化输出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优化前问题：每题 13 次 LLM 调用，126 题共约 1,638 次请求，每次均重新建立 TCP/TLS 连接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548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每次请求都新建 httpx.Client → 重复 TCP + TLS 握手（约 50~200ms/次）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分类器、求解器、验证器内部存在串行阻塞，无法充分利用 API 并发能力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验证器 temperature=0 时仍投 2 次票（结果完全相同，纯冗余）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已知领域信息的题目仍需调用分类器 LLM 做重复识别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2. 优化策略总览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ED6F1"/>
                </a:solidFill>
                <a:latin typeface="Microsoft YaHei"/>
              </a:defRPr>
            </a:pPr>
            <a:r>
              <a:t>两个阶段、七项优化，均不影响正确率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94960" cy="237744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276"/>
                </a:solidFill>
                <a:latin typeface="Microsoft YaHei"/>
              </a:defRPr>
            </a:pPr>
            <a:r>
              <a:t>阶段一：多智能体内部并行化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Budget 类添加 RLock 线程安全（预扣+退款）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求解器 4 候选并行生成（ThreadPoolExecutor）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验证器候选并行 + 投票并行（双重并行）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EvalSyncClient.total_tokens 添加 Lock 保护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394960" cy="237744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276"/>
                </a:solidFill>
                <a:latin typeface="Microsoft YaHei"/>
              </a:defRPr>
            </a:pPr>
            <a:r>
              <a:t>阶段二：连接池复用 + 冗余消除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HTTP 连接池持久化（EvalSyncClient + LLMClient）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消除 1,600+ 次 TCP/TLS 重复握手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验证器投票次数 2→1（temperature=0 确定性）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已知领域跳过分类器 LLM 调用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06240"/>
            <a:ext cx="3566160" cy="19202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LLM 调用次数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ED6F1"/>
                </a:solidFill>
                <a:latin typeface="Microsoft YaHei"/>
              </a:defRPr>
            </a:pPr>
            <a:r>
              <a:t>13 次/题 → 8~9 次/题</a:t>
            </a:r>
            <a:br/>
            <a:r>
              <a:t>减少 31%~38%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4206240"/>
            <a:ext cx="3566160" cy="192024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HTTP 连接开销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8463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1,638 次握手 → 126 次</a:t>
            </a:r>
            <a:br/>
            <a:r>
              <a:t>消除 92% 重复握手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4206240"/>
            <a:ext cx="3566160" cy="1920240"/>
          </a:xfrm>
          <a:prstGeom prst="rect">
            <a:avLst/>
          </a:prstGeom>
          <a:solidFill>
            <a:srgbClr val="1A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整体评测速度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8463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预计提升</a:t>
            </a:r>
            <a:br/>
            <a:r>
              <a:t>40% ~ 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3. 阶段一：多智能体内部并行化改造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ED6F1"/>
                </a:solidFill>
                <a:latin typeface="Microsoft YaHei"/>
              </a:defRPr>
            </a:pPr>
            <a:r>
              <a:t>4 个文件修改，聚焦并发架构 + 线程安全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09728" cy="109728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submit/agent/base.py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71A3"/>
                </a:solidFill>
                <a:latin typeface="Microsoft YaHei"/>
              </a:defRPr>
            </a:pPr>
            <a:r>
              <a:t>Budget 线程安全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引入 threading.RLock 保护预算并发操作</a:t>
            </a:r>
            <a:br/>
            <a:r>
              <a:t>• 新增 refund() 方法：LLM 调用失败后退回预算</a:t>
            </a:r>
            <a:br/>
            <a:r>
              <a:t>• BaseAgent.llm 改为"预扣 → 调用 → 退货"模式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109728" cy="10972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submit/agent/solver.py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Microsoft YaHei"/>
              </a:defRPr>
            </a:pPr>
            <a:r>
              <a:t>求解器并行候选生成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78892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_generate_initial：ThreadPoolExecutor(max_workers=4)</a:t>
            </a:r>
            <a:br/>
            <a:r>
              <a:t>• _generate_revise：纠错候选同样并行</a:t>
            </a:r>
            <a:br/>
            <a:r>
              <a:t>• 4 候选从串行 40~120s 降至并行 10~30s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109728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submit/agent/verifier.py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51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276"/>
                </a:solidFill>
                <a:latin typeface="Microsoft YaHei"/>
              </a:defRPr>
            </a:pPr>
            <a:r>
              <a:t>验证器双重并行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06908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run()：并行验证所有未验证候选 (max_workers=8)</a:t>
            </a:r>
            <a:br/>
            <a:r>
              <a:t>• _vote()：候选内多轮投票并行 (max_workers=total_votes)</a:t>
            </a:r>
            <a:br/>
            <a:r>
              <a:t>• 验证阶段耗时降低约 75%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03520"/>
            <a:ext cx="109728" cy="1097280"/>
          </a:xfrm>
          <a:prstGeom prst="rect">
            <a:avLst/>
          </a:prstGeom>
          <a:solidFill>
            <a:srgbClr val="154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测试工具/multi_agent_runner.py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32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4360"/>
                </a:solidFill>
                <a:latin typeface="Microsoft YaHei"/>
              </a:defRPr>
            </a:pPr>
            <a:r>
              <a:t>Token 统计线程安全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34924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EvalSyncClient.total_tokens 添加 threading.Lock</a:t>
            </a:r>
            <a:br/>
            <a:r>
              <a:t>• 多线程并发写入时确保统计数据准确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4. 阶段二：HTTP 连接池持久化复用（核心收益）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ED6F1"/>
                </a:solidFill>
                <a:latin typeface="Microsoft YaHei"/>
              </a:defRPr>
            </a:pPr>
            <a:r>
              <a:t>本次优化中收益最大的改动 —— 消除 TCP/TLS 重复握手开销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0392B"/>
                </a:solidFill>
                <a:latin typeface="Microsoft YaHei"/>
              </a:defRPr>
            </a:pPr>
            <a:r>
              <a:t>优化前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5394960" cy="210312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# 每次 chat() 都新建 Client</a:t>
            </a:r>
            <a:br/>
            <a:r>
              <a:t>def chat(self, messages, ...):</a:t>
            </a:r>
            <a:br/>
            <a:r>
              <a:t>    with httpx.Client(         # 新建 TCP 连接!</a:t>
            </a:r>
            <a:br/>
            <a:r>
              <a:t>        timeout=60</a:t>
            </a:r>
            <a:br/>
            <a:r>
              <a:t>    ) as client:</a:t>
            </a:r>
            <a:br/>
            <a:r>
              <a:t>        resp = client.post(...) # TLS 握手!</a:t>
            </a:r>
            <a:br/>
          </a:p>
        </p:txBody>
      </p:sp>
      <p:sp>
        <p:nvSpPr>
          <p:cNvPr id="8" name="TextBox 7"/>
          <p:cNvSpPr txBox="1"/>
          <p:nvPr/>
        </p:nvSpPr>
        <p:spPr>
          <a:xfrm>
            <a:off x="6309360" y="14630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7A1A"/>
                </a:solidFill>
                <a:latin typeface="Microsoft YaHei"/>
              </a:defRPr>
            </a:pPr>
            <a:r>
              <a:t>优化后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920240"/>
            <a:ext cx="5394960" cy="210312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# __init__ 中创建持久化 Client</a:t>
            </a:r>
            <a:br/>
            <a:r>
              <a:t>self._client = httpx.Client(</a:t>
            </a:r>
            <a:br/>
            <a:r>
              <a:t>    timeout=60,</a:t>
            </a:r>
            <a:br/>
            <a:r>
              <a:t>    limits=Limits(</a:t>
            </a:r>
            <a:br/>
            <a:r>
              <a:t>        max_keepalive=20,       # 连接池复用!</a:t>
            </a:r>
            <a:br/>
            <a:r>
              <a:t>        max_connections=50</a:t>
            </a:r>
            <a:br/>
            <a:r>
              <a:t>    ))</a:t>
            </a:r>
            <a:br/>
            <a:r>
              <a:t># chat() 中直接 self._client.post()</a:t>
            </a:r>
            <a:br/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392B"/>
                </a:solidFill>
                <a:latin typeface="Microsoft YaHei"/>
              </a:defRPr>
            </a:pPr>
            <a:r>
              <a:t>优化前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0392B"/>
                </a:solidFill>
                <a:latin typeface="Microsoft YaHei"/>
              </a:defRPr>
            </a:pPr>
            <a:r>
              <a:t>1,638 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20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每次新建 Client → 每次 TCP + TLS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297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7A1A"/>
                </a:solidFill>
                <a:latin typeface="Microsoft YaHei"/>
              </a:defRPr>
            </a:pPr>
            <a:r>
              <a:t>优化后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663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7A1A"/>
                </a:solidFill>
                <a:latin typeface="Microsoft YaHei"/>
              </a:defRPr>
            </a:pPr>
            <a:r>
              <a:t>~126 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5120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单题 1 个 Client → 13 次调用共享连接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297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5276"/>
                </a:solidFill>
                <a:latin typeface="Microsoft YaHei"/>
              </a:defRPr>
            </a:pPr>
            <a:r>
              <a:t>节省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663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5276"/>
                </a:solidFill>
                <a:latin typeface="Microsoft YaHei"/>
              </a:defRPr>
            </a:pPr>
            <a:r>
              <a:t>92% 握手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120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预计节约 70~300 秒网络开销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471A3"/>
                </a:solidFill>
                <a:latin typeface="Microsoft YaHei"/>
              </a:defRPr>
            </a:pPr>
            <a:r>
              <a:t>修改文件：测试工具/multi_agent_runner.py（EvalSyncClient）、测试工具/llm_client.py（LLMClient）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5. 阶段二：冗余调用消除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ED6F1"/>
                </a:solidFill>
                <a:latin typeface="Microsoft YaHei"/>
              </a:defRPr>
            </a:pPr>
            <a:r>
              <a:t>在不改变推理结果的前提下，减少不必要的 LLM API 请求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94960" cy="2286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276"/>
                </a:solidFill>
                <a:latin typeface="Microsoft YaHei"/>
              </a:defRPr>
            </a:pPr>
            <a:r>
              <a:t>验证器投票次数：2 →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verifier_temperature = 0.0（贪婪解码）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同一输入 → 同一输出（完全确定性）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第 2 次投票 = 第 1 次投票（纯冗余）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每道题节省 4 次 LLM 调用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修改：submit/user_agent.py (verifier_voting_times)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5394960" cy="2286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276"/>
                </a:solidFill>
                <a:latin typeface="Microsoft YaHei"/>
              </a:defRPr>
            </a:pPr>
            <a:r>
              <a:t>已知领域跳过分类器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metadata 已含 domain（18 领域之一）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直接设置 ctx.domain，跳过 classify LLM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无效/未知领域照常调用分类器兜底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每道题节省 1 次 LLM 调用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474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修改：submit/agent/orchestrator.py (导入 _KNOWN_DOMAINS)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276"/>
                </a:solidFill>
                <a:latin typeface="Microsoft YaHei"/>
              </a:defRPr>
            </a:pPr>
            <a:r>
              <a:t>每道题 LLM 调用次数对比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471A3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892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471A3"/>
                </a:solidFill>
                <a:latin typeface="Microsoft YaHei"/>
              </a:defRPr>
            </a:pPr>
            <a:r>
              <a:t>优化前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5303520"/>
            <a:ext cx="1828800" cy="5486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5349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13 次/题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892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471A3"/>
                </a:solidFill>
                <a:latin typeface="Microsoft YaHei"/>
              </a:defRPr>
            </a:pPr>
            <a:r>
              <a:t>阶段一后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5303520"/>
            <a:ext cx="1828800" cy="54864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5349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13 次/题（并行）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892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471A3"/>
                </a:solidFill>
                <a:latin typeface="Microsoft YaHei"/>
              </a:defRPr>
            </a:pPr>
            <a:r>
              <a:t>阶段二后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5303520"/>
            <a:ext cx="1828800" cy="548640"/>
          </a:xfrm>
          <a:prstGeom prst="rect">
            <a:avLst/>
          </a:prstGeom>
          <a:solidFill>
            <a:srgbClr val="1A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5349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8~9 次/题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6. 优化效果汇总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09728" cy="100584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71A3"/>
                </a:solidFill>
                <a:latin typeface="Microsoft YaHei"/>
              </a:defRPr>
            </a:pPr>
            <a:r>
              <a:t>LLM 调用次数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13 → 8~9 次/题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645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2471A3"/>
                </a:solidFill>
                <a:latin typeface="Microsoft YaHei"/>
              </a:defRPr>
            </a:pPr>
            <a:r>
              <a:t>减少 31%~38%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109728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Microsoft YaHei"/>
              </a:defRPr>
            </a:pPr>
            <a:r>
              <a:t>求解器耗时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串行 4 候选 → 并行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880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2E86C1"/>
                </a:solidFill>
                <a:latin typeface="Microsoft YaHei"/>
              </a:defRPr>
            </a:pPr>
            <a:r>
              <a:t>降至原先 1/4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109728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276"/>
                </a:solidFill>
                <a:latin typeface="Microsoft YaHei"/>
              </a:defRPr>
            </a:pPr>
            <a:r>
              <a:t>验证器耗时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双重并行 + 投票减半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114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1A5276"/>
                </a:solidFill>
                <a:latin typeface="Microsoft YaHei"/>
              </a:defRPr>
            </a:pPr>
            <a:r>
              <a:t>降至原先 1/4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166360"/>
            <a:ext cx="109728" cy="1005840"/>
          </a:xfrm>
          <a:prstGeom prst="rect">
            <a:avLst/>
          </a:prstGeom>
          <a:solidFill>
            <a:srgbClr val="1A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66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A1A"/>
                </a:solidFill>
                <a:latin typeface="Microsoft YaHei"/>
              </a:defRPr>
            </a:pPr>
            <a:r>
              <a:t>HTTP 握手开销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532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1,638 次 → ~126 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349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1A7A1A"/>
                </a:solidFill>
                <a:latin typeface="Microsoft YaHei"/>
              </a:defRPr>
            </a:pPr>
            <a:r>
              <a:t>消除 92%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1463040"/>
            <a:ext cx="3931920" cy="48463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18288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综合评测速度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5603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E86C1"/>
                </a:solidFill>
                <a:latin typeface="Microsoft YaHei"/>
              </a:defRPr>
            </a:pPr>
            <a:r>
              <a:t>提升</a:t>
            </a:r>
            <a:br/>
            <a:r>
              <a:t>40% ~ 50%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3657600"/>
            <a:ext cx="210312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393192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正确率不受影响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不修改推理逻辑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不修改 Prompt 模板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仅优化基础设施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7. 修改文件清单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471A3"/>
                </a:solidFill>
                <a:latin typeface="Microsoft YaHei"/>
              </a:defRPr>
            </a:pPr>
            <a:r>
              <a:t>阶段一：并行化改造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73152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276"/>
                </a:solidFill>
                <a:latin typeface="Microsoft YaHei"/>
              </a:defRPr>
            </a:pPr>
            <a:r>
              <a:t>submit/agent/base.py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Budget RLock + refund、预扣-退货模式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73152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276"/>
                </a:solidFill>
                <a:latin typeface="Microsoft YaHei"/>
              </a:defRPr>
            </a:pPr>
            <a:r>
              <a:t>submit/agent/solver.py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606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_generate_initial/revise ThreadPool 并行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73152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276"/>
                </a:solidFill>
                <a:latin typeface="Microsoft YaHei"/>
              </a:defRPr>
            </a:pPr>
            <a:r>
              <a:t>submit/agent/verifier.py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run() 候选并行 + _vote() 投票并行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94760"/>
            <a:ext cx="73152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276"/>
                </a:solidFill>
                <a:latin typeface="Microsoft YaHei"/>
              </a:defRPr>
            </a:pPr>
            <a:r>
              <a:t>测试工具/multi_agent_runner.py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94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total_tokens Lock 线程安全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471A3"/>
                </a:solidFill>
                <a:latin typeface="Microsoft YaHei"/>
              </a:defRPr>
            </a:pPr>
            <a:r>
              <a:t>阶段二：连接池 + 冗余消除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011680"/>
            <a:ext cx="73152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276"/>
                </a:solidFill>
                <a:latin typeface="Microsoft YaHei"/>
              </a:defRPr>
            </a:pPr>
            <a:r>
              <a:t>测试工具/multi_agent_runner.py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持久化 httpx.Client 连接池 (keepalive=20)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606040"/>
            <a:ext cx="73152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606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276"/>
                </a:solidFill>
                <a:latin typeface="Microsoft YaHei"/>
              </a:defRPr>
            </a:pPr>
            <a:r>
              <a:t>测试工具/llm_client.py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606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持久化 httpx.AsyncClient 连接池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200400"/>
            <a:ext cx="73152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200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276"/>
                </a:solidFill>
                <a:latin typeface="Microsoft YaHei"/>
              </a:defRPr>
            </a:pPr>
            <a:r>
              <a:t>submit/user_agent.py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verifier_voting_times: 2→1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794760"/>
            <a:ext cx="73152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794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276"/>
                </a:solidFill>
                <a:latin typeface="Microsoft YaHei"/>
              </a:defRPr>
            </a:pPr>
            <a:r>
              <a:t>submit/agent/orchestrator.py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794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metadata domain 跳过分类器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754880"/>
            <a:ext cx="11247120" cy="146304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846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276"/>
                </a:solidFill>
                <a:latin typeface="Microsoft YaHei"/>
              </a:defRPr>
            </a:pPr>
            <a:r>
              <a:t>附带修复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3035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333333"/>
                </a:solidFill>
                <a:latin typeface="Microsoft YaHei"/>
              </a:rPr>
              <a:t>ttk.Checkbutton 字体错误：</a:t>
            </a:r>
            <a:r>
              <a:rPr sz="1300">
                <a:solidFill>
                  <a:srgbClr val="333333"/>
                </a:solidFill>
                <a:latin typeface="Microsoft YaHei"/>
              </a:rPr>
              <a:t>原代码直接传 font 参数不兼容 ttk 控件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333333"/>
                </a:solidFill>
                <a:latin typeface="Microsoft YaHei"/>
              </a:rPr>
              <a:t>修复方式：</a:t>
            </a:r>
            <a:r>
              <a:rPr sz="1300">
                <a:solidFill>
                  <a:srgbClr val="333333"/>
                </a:solidFill>
                <a:latin typeface="Microsoft YaHei"/>
              </a:rPr>
              <a:t>改用 ttk.Style().configure('TCheckbutton', font=...) 全局配置样式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371600"/>
            <a:ext cx="301752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E86C1"/>
                </a:solidFill>
                <a:latin typeface="Microsoft YaHei"/>
              </a:defRPr>
            </a:pPr>
            <a:r>
              <a:t>核心理念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保证正确率，只改基础设施 —— 不修改任何推理逻辑或 Prompt 模板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E86C1"/>
                </a:solidFill>
                <a:latin typeface="Microsoft YaHei"/>
              </a:defRPr>
            </a:pPr>
            <a:r>
              <a:t>并发架构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6974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Python ThreadPoolExecutor 实现求解器/验证器内部并行，充分利用 API 并发能力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566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E86C1"/>
                </a:solidFill>
                <a:latin typeface="Microsoft YaHei"/>
              </a:defRPr>
            </a:pPr>
            <a:r>
              <a:t>线程安全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5661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RLock 保护预算管理、Lock 保护统计数据的正确性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434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E86C1"/>
                </a:solidFill>
                <a:latin typeface="Microsoft YaHei"/>
              </a:defRPr>
            </a:pPr>
            <a:r>
              <a:t>连接复用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4348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httpx 持久化 Client + 连接池，消除 92% TCP/TLS 重复握手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303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E86C1"/>
                </a:solidFill>
                <a:latin typeface="Microsoft YaHei"/>
              </a:defRPr>
            </a:pPr>
            <a:r>
              <a:t>冗余消除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3035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temperature=0 确定性分析 + metadata 预判复用，减少不必要的 LLM 调用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6035040"/>
            <a:ext cx="301752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ED6F1"/>
                </a:solidFill>
                <a:latin typeface="Microsoft YaHei"/>
              </a:defRPr>
            </a:pPr>
            <a:r>
              <a:t>大规模题库评测等待时间大幅缩短，正确率不受任何影响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