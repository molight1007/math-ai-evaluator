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77440"/>
            <a:ext cx="12192000" cy="54864"/>
          </a:xfrm>
          <a:prstGeom prst="rect">
            <a:avLst/>
          </a:prstGeom>
          <a:solidFill>
            <a:srgbClr val="AAAAAA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560320"/>
            <a:ext cx="12192000" cy="292608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Intern-S1 的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数学智能体设计与推理创新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挑战杯 XH-202627  项目进度详细报告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0A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发榜单位：上海人工智能实验室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0A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生成日期：2026年7月20日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0A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github.com/Molight1007/-csust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97280"/>
            <a:ext cx="11274552" cy="2926080"/>
          </a:xfrm>
          <a:prstGeom prst="rect">
            <a:avLst>
              <a:gd name="adj" fmla="val 312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103601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挑战杯 XH-202627 · 项目进度报告 · 2026年7月20日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项目概览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当前进度总览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各模块详细进度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100题实测结果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比赛评分对齐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86000" y="4389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核心创新点：Lean 4 验证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86000" y="4937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数据一览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86000" y="5486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总结与下一步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项目概览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当前整体完成度：55-60%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全链路闭环系统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463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多格式题目输入（7种格式）→ AI 推理 → 自动评判 → 形式化验证 → 可视化报告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965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 Intern-S1（书生浦语）作为推理引擎，DeepSeek 作为评判引擎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468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4 作为形式化验证工具，属核心创新点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971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聚焦智能体推理链设计与教育启发性，降低算力门槛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当前进度总览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评测基础设施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0" y="1170432"/>
            <a:ext cx="6858000" cy="274320"/>
          </a:xfrm>
          <a:prstGeom prst="rect">
            <a:avLst>
              <a:gd name="adj" fmla="val 16667"/>
            </a:avLst>
          </a:prstGeom>
          <a:solidFill>
            <a:srgbClr val="EEEEE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1170432"/>
            <a:ext cx="6515100" cy="274320"/>
          </a:xfrm>
          <a:prstGeom prst="rect">
            <a:avLst>
              <a:gd name="adj" fmla="val 16667"/>
            </a:avLst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11521440" y="1115568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题库管理系统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810512"/>
            <a:ext cx="6858000" cy="274320"/>
          </a:xfrm>
          <a:prstGeom prst="rect">
            <a:avLst>
              <a:gd name="adj" fmla="val 16667"/>
            </a:avLst>
          </a:prstGeom>
          <a:solidFill>
            <a:srgbClr val="EEEEEE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810512"/>
            <a:ext cx="6172200" cy="274320"/>
          </a:xfrm>
          <a:prstGeom prst="rect">
            <a:avLst>
              <a:gd name="adj" fmla="val 16667"/>
            </a:avLst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11521440" y="1755648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GUI图形界面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2450592"/>
            <a:ext cx="6858000" cy="274320"/>
          </a:xfrm>
          <a:prstGeom prst="rect">
            <a:avLst>
              <a:gd name="adj" fmla="val 16667"/>
            </a:avLst>
          </a:prstGeom>
          <a:solidFill>
            <a:srgbClr val="EEEEE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2450592"/>
            <a:ext cx="6172200" cy="274320"/>
          </a:xfrm>
          <a:prstGeom prst="rect">
            <a:avLst>
              <a:gd name="adj" fmla="val 16667"/>
            </a:avLst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521440" y="2395728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0175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4形式化验证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3090672"/>
            <a:ext cx="6858000" cy="274320"/>
          </a:xfrm>
          <a:prstGeom prst="rect">
            <a:avLst>
              <a:gd name="adj" fmla="val 16667"/>
            </a:avLst>
          </a:prstGeom>
          <a:solidFill>
            <a:srgbClr val="EEEEEE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3090672"/>
            <a:ext cx="548640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11521440" y="3035808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6576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100题实测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3730752"/>
            <a:ext cx="6858000" cy="274320"/>
          </a:xfrm>
          <a:prstGeom prst="rect">
            <a:avLst>
              <a:gd name="adj" fmla="val 16667"/>
            </a:avLst>
          </a:prstGeom>
          <a:solidFill>
            <a:srgbClr val="EEEEEE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0" y="3730752"/>
            <a:ext cx="6858000" cy="274320"/>
          </a:xfrm>
          <a:prstGeom prst="rect">
            <a:avLst>
              <a:gd name="adj" fmla="val 16667"/>
            </a:avLst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11521440" y="3675888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独立优化沙盒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4370832"/>
            <a:ext cx="6858000" cy="274320"/>
          </a:xfrm>
          <a:prstGeom prst="rect">
            <a:avLst>
              <a:gd name="adj" fmla="val 16667"/>
            </a:avLst>
          </a:prstGeom>
          <a:solidFill>
            <a:srgbClr val="EEEEEE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4370832"/>
            <a:ext cx="1371600" cy="274320"/>
          </a:xfrm>
          <a:prstGeom prst="rect">
            <a:avLst>
              <a:gd name="adj" fmla="val 16667"/>
            </a:avLst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11521440" y="4315968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9377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多智能体协作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0" y="5010912"/>
            <a:ext cx="6858000" cy="274320"/>
          </a:xfrm>
          <a:prstGeom prst="rect">
            <a:avLst>
              <a:gd name="adj" fmla="val 16667"/>
            </a:avLst>
          </a:prstGeom>
          <a:solidFill>
            <a:srgbClr val="EEEEEE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0" y="5010912"/>
            <a:ext cx="685800" cy="274320"/>
          </a:xfrm>
          <a:prstGeom prst="rect">
            <a:avLst>
              <a:gd name="adj" fmla="val 16667"/>
            </a:avLst>
          </a:prstGeom>
          <a:solidFill>
            <a:srgbClr val="C0392B"/>
          </a:solidFill>
          <a:ln/>
        </p:spPr>
      </p:sp>
      <p:sp>
        <p:nvSpPr>
          <p:cNvPr id="30" name="Text 28"/>
          <p:cNvSpPr/>
          <p:nvPr/>
        </p:nvSpPr>
        <p:spPr>
          <a:xfrm>
            <a:off x="11521440" y="4956048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5577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RAG知识库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0" y="5650992"/>
            <a:ext cx="6858000" cy="274320"/>
          </a:xfrm>
          <a:prstGeom prst="rect">
            <a:avLst>
              <a:gd name="adj" fmla="val 16667"/>
            </a:avLst>
          </a:prstGeom>
          <a:solidFill>
            <a:srgbClr val="EEEEEE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0" y="5650992"/>
            <a:ext cx="342900" cy="274320"/>
          </a:xfrm>
          <a:prstGeom prst="rect">
            <a:avLst>
              <a:gd name="adj" fmla="val 16667"/>
            </a:avLst>
          </a:prstGeom>
          <a:solidFill>
            <a:srgbClr val="C0392B"/>
          </a:solidFill>
          <a:ln/>
        </p:spPr>
      </p:sp>
      <p:sp>
        <p:nvSpPr>
          <p:cNvPr id="34" name="Text 32"/>
          <p:cNvSpPr/>
          <p:nvPr/>
        </p:nvSpPr>
        <p:spPr>
          <a:xfrm>
            <a:off x="11521440" y="5596128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计划书六大阶段对照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10698480" cy="914400"/>
        </p:xfrm>
        <a:graphic>
          <a:graphicData uri="http://schemas.openxmlformats.org/drawingml/2006/table">
            <a:tbl>
              <a:tblPr/>
              <a:tblGrid>
                <a:gridCol w="2674620"/>
                <a:gridCol w="2674620"/>
                <a:gridCol w="2674620"/>
                <a:gridCol w="26746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阶段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计划时间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完成度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状态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① 基础搭建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6/8-6/22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已完成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② 知识库建设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6/15-7/6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基本未启动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③ Prompt优化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7/1-7/20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有基础，待领域优化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④ 过程校验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7/15-7/31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有自验证，未成独立Agent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⑤ 测试评估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8/1-8/20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100题已测，112题未开始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⑥ 文档提交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8/15-9/5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未开始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各模块详细进度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评测基础设施 / 题库管理 / GUI / Lean 4 / 独立沙盒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评测基础设施（完成度 95%）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格式转化工具：PDF/Word/PPT/Markdown/Excel → JSON 自动转化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命令行入口（main.py，949行）：文件评测 / 答案导入 / 统计查询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 图形界面（64KB）：三大标签页，文件拖放支持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Intern-S1 推理（intern_s1.py）：分步推理+自验证，结构化JSON输出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评判（deepseek.py，401行）：单题/批量评判，批量模式减少45%调用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客户端（llm_client.py）：OpenAI兼容HTTP，指数退避重试，三级JSON提取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5029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报告生成（reporter.py，48KB）：JSON/CSV/Terminal/HTML 四种格式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题库管理 (90%) + Lean 4 验证 (80%)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303520" cy="4754880"/>
          </a:xfrm>
          <a:prstGeom prst="rect">
            <a:avLst>
              <a:gd name="adj" fmla="val 1923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题库管理系统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题库 CRUD 操作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质量审核（DeepSeek 自动审核）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批量导入（JSON）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答案提取与匹配（PPT/Word/TXT/PDF等）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097280"/>
            <a:ext cx="5303520" cy="4754880"/>
          </a:xfrm>
          <a:prstGeom prst="rect">
            <a:avLst>
              <a:gd name="adj" fmla="val 1923"/>
            </a:avLst>
          </a:prstGeom>
          <a:solidFill>
            <a:srgbClr val="D6E8F5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1887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4 形式化验证 ★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三阶段异步流水线：转化→编译→分析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0" y="2423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AND-OR DAG 蓝图分解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0" y="3017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错误根因分析：定位逻辑断点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3611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Lean不可用时自动降级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核心创新点，国内类似团队极少实现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题实测结果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高等数学 · 准确率 71.0%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测试结果总览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474720" cy="1828800"/>
          </a:xfrm>
          <a:prstGeom prst="rect">
            <a:avLst>
              <a:gd name="adj" fmla="val 4000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 / 100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高等数学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正确数/总题数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188720"/>
            <a:ext cx="3474720" cy="1828800"/>
          </a:xfrm>
          <a:prstGeom prst="rect">
            <a:avLst>
              <a:gd name="adj" fmla="val 4000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13716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480560" y="2194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 80%+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80560" y="2560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准确率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1188720"/>
            <a:ext cx="3474720" cy="1828800"/>
          </a:xfrm>
          <a:prstGeom prst="rect">
            <a:avLst>
              <a:gd name="adj" fmla="val 4000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13716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0.9765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321040" y="2194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模型自信度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321040" y="2560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平均置信度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3474720" cy="1828800"/>
          </a:xfrm>
          <a:prstGeom prst="rect">
            <a:avLst>
              <a:gd name="adj" fmla="val 4000"/>
            </a:avLst>
          </a:prstGeom>
          <a:solidFill>
            <a:srgbClr val="F2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747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63.43s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0080" y="4297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可优化到45s以内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663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平均推理耗时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97680" y="3291840"/>
            <a:ext cx="3474720" cy="1828800"/>
          </a:xfrm>
          <a:prstGeom prst="rect">
            <a:avLst>
              <a:gd name="adj" fmla="val 4000"/>
            </a:avLst>
          </a:prstGeom>
          <a:solidFill>
            <a:srgbClr val="F2F2F2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0" y="34747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278,026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480560" y="4297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80560" y="4663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推理 Token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38160" y="3291840"/>
            <a:ext cx="3474720" cy="1828800"/>
          </a:xfrm>
          <a:prstGeom prst="rect">
            <a:avLst>
              <a:gd name="adj" fmla="val 4000"/>
            </a:avLst>
          </a:prstGeom>
          <a:solidFill>
            <a:srgbClr val="F2F2F2"/>
          </a:solidFill>
          <a:ln/>
        </p:spPr>
      </p:sp>
      <p:sp>
        <p:nvSpPr>
          <p:cNvPr id="24" name="Text 22"/>
          <p:cNvSpPr/>
          <p:nvPr/>
        </p:nvSpPr>
        <p:spPr>
          <a:xfrm>
            <a:off x="8321040" y="34747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254,182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8321040" y="4297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21040" y="4663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评判 Token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错误分布分析（29题）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029200" cy="4572000"/>
          </a:xfrm>
          <a:prstGeom prst="rect">
            <a:avLst>
              <a:gd name="adj" fmla="val 2000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错误类型分布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0" y="2103120"/>
            <a:ext cx="2560320" cy="457200"/>
          </a:xfrm>
          <a:prstGeom prst="rect">
            <a:avLst>
              <a:gd name="adj" fmla="val 10000"/>
            </a:avLst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解答不完整  13题 (44.8%)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0" y="2926080"/>
            <a:ext cx="1183005" cy="457200"/>
          </a:xfrm>
          <a:prstGeom prst="rect">
            <a:avLst>
              <a:gd name="adj" fmla="val 10000"/>
            </a:avLst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926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计算错误     6题 (20.7%)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3749040"/>
            <a:ext cx="982980" cy="457200"/>
          </a:xfrm>
          <a:prstGeom prst="rect">
            <a:avLst>
              <a:gd name="adj" fmla="val 10000"/>
            </a:avLst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749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逻辑错误     5题 (17.2%)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0" y="4572000"/>
            <a:ext cx="982980" cy="457200"/>
          </a:xfrm>
          <a:prstGeom prst="rect">
            <a:avLst>
              <a:gd name="adj" fmla="val 10000"/>
            </a:avLst>
          </a:prstGeom>
          <a:solidFill>
            <a:srgbClr val="66666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572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未分类         5题 (17.2%)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关键发现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19202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已知领域的准确率100%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25603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75道未标注领域题目拉低了整体准确率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32004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需要补充领域标注和针对性Prompt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38404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解答不完整是最大问题（44.8%）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44805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自检+重试机制可大幅减少不完整回答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比赛评分要求对齐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XH-202627 评审标准对标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评分维度与当前预估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10698480" cy="914400"/>
        </p:xfrm>
        <a:graphic>
          <a:graphicData uri="http://schemas.openxmlformats.org/drawingml/2006/table">
            <a:tbl>
              <a:tblPr/>
              <a:tblGrid>
                <a:gridCol w="2674620"/>
                <a:gridCol w="2674620"/>
                <a:gridCol w="2674620"/>
                <a:gridCol w="26746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评分维度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权重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当前准备情况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预期得分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答案正确性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100题准确率71%，需提升至80%+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预估 42-48 / 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推理策略与系统设计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完整评测流水线+Lean验证，待多Agent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预估 6-8 / 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展示质量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HTML报告已有，待Demo+视频+报告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预估 10-14 / 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创新性与可扩展性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Lean验证为创新点，多Agent待实现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预估 6-8 / 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合计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预估 64-78 / 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核心创新点：Lean 4 形式化验证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三阶段异步流水线 + AND-OR DAG 蓝图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4 验证流程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645920"/>
            <a:ext cx="1280160" cy="2286000"/>
          </a:xfrm>
          <a:prstGeom prst="rect">
            <a:avLst>
              <a:gd name="adj" fmla="val 7143"/>
            </a:avLst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0"/>
            <a:ext cx="1280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Intern-S1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自然语言推理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737360" y="201168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108960" y="1645920"/>
            <a:ext cx="1280160" cy="2286000"/>
          </a:xfrm>
          <a:prstGeom prst="rect">
            <a:avLst>
              <a:gd name="adj" fmla="val 7143"/>
            </a:avLst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0" y="1645920"/>
            <a:ext cx="1280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Lean 4 代码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80560" y="201168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852160" y="1645920"/>
            <a:ext cx="1280160" cy="2286000"/>
          </a:xfrm>
          <a:prstGeom prst="rect">
            <a:avLst>
              <a:gd name="adj" fmla="val 7143"/>
            </a:avLst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0" y="1645920"/>
            <a:ext cx="1280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 env lean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编译验证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223760" y="201168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595360" y="1645920"/>
            <a:ext cx="1280160" cy="2286000"/>
          </a:xfrm>
          <a:prstGeom prst="rect">
            <a:avLst>
              <a:gd name="adj" fmla="val 7143"/>
            </a:avLst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8595360" y="1645920"/>
            <a:ext cx="1280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错误分析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966960" y="201168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1338560" y="1645920"/>
            <a:ext cx="1280160" cy="2286000"/>
          </a:xfrm>
          <a:prstGeom prst="rect">
            <a:avLst>
              <a:gd name="adj" fmla="val 7143"/>
            </a:avLst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11338560" y="1645920"/>
            <a:ext cx="1280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修正提示词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反馈推理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技术优势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" y="49377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数学上严格的正确性验证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53949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区分「转化错误」与「逻辑错误」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58521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AND-OR DAG 蓝图可视化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63093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不可用时自动降级，不影响主流程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67665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国内类似比赛极少有团队实现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数据一览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项目关键数据统计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项目数据总览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188720"/>
          <a:ext cx="9418320" cy="914400"/>
        </p:xfrm>
        <a:graphic>
          <a:graphicData uri="http://schemas.openxmlformats.org/drawingml/2006/table">
            <a:tbl>
              <a:tblPr/>
              <a:tblGrid>
                <a:gridCol w="4709160"/>
                <a:gridCol w="47091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指标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 源文件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30+ 个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代码总量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约 15 万行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测试报告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 份 HTML + 12 份 JSON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题库文件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个 SQLite 数据库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转化格式支持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种 (PDF/Word/PPT/MD/Excel/JSON/CSV)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Lean 4 项目文件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847 个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最新 100 题准确率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距离初赛截止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约 47 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总结与下一步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时间紧迫，全力冲刺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优势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评测基础设施非常完善（工具链/GUI/报告）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4 验证属核心创新点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100题实测准确率71%，有基线数据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不足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75120" y="1645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多Agent系统几乎未启动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75120" y="2148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RAG知识库构建率为5%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0" y="2651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自检测和温度剪枝功能未实现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0" y="3154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服务器尚未部署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下一步行动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89120"/>
          <a:ext cx="1124712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749040"/>
                <a:gridCol w="3749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时间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关键动作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7/20-7/27 (本周)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服务器+推理增强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自检测 + 温度多答案剪枝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7/27-8/3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多Agent v0.1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题型分类 + RAG检索 + 推理求解联调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8/3-8/10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多Agent v1.0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过程校验 + 子目标分解 + 全覆盖RAG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8/10-9/5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评测+优化+提交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112题评测 → 迭代 → 文档 → 提交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2057400"/>
            <a:ext cx="975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谢谢！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19200" y="3771900"/>
            <a:ext cx="975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挑战杯 XH-202627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Intern-S1 的数学智能体设计与推理创新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19200" y="5143500"/>
            <a:ext cx="975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github.com/Molight1007/-csust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初赛截止：2026年9月5日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CSUST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项目进度报告</dc:subject>
  <dc:creator>Challenge Cup XH-202627 Team</dc:creator>
  <cp:lastModifiedBy>Challenge Cup XH-202627 Team</cp:lastModifiedBy>
  <cp:revision>1</cp:revision>
  <dcterms:created xsi:type="dcterms:W3CDTF">2026-07-20T03:23:19Z</dcterms:created>
  <dcterms:modified xsi:type="dcterms:W3CDTF">2026-07-20T03:23:19Z</dcterms:modified>
</cp:coreProperties>
</file>