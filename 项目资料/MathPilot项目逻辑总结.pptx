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1A56DB"/>
                </a:solidFill>
                <a:latin typeface="Microsoft YaHei"/>
              </a:defRPr>
            </a:pPr>
            <a:r>
              <a:t>MathPilot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DDEE"/>
                </a:solidFill>
                <a:latin typeface="Microsoft YaHei"/>
              </a:defRPr>
            </a:pPr>
            <a:r>
              <a:t>基于 Intern-S 系列大模型的数学智能体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DCC70"/>
                </a:solidFill>
                <a:latin typeface="Microsoft YaHei"/>
              </a:defRPr>
            </a:pPr>
            <a:r>
              <a:t>多智能体协作 · 自主调控 · 符号计算增强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DDEE"/>
                </a:solidFill>
                <a:latin typeface="Microsoft YaHei"/>
              </a:defRPr>
            </a:pPr>
            <a:r>
              <a:t>csust-qiming-math  ·  挑战杯作品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463040"/>
            <a:ext cx="548640" cy="457200"/>
          </a:xfrm>
          <a:prstGeom prst="roundRect">
            <a:avLst/>
          </a:prstGeom>
          <a:solidFill>
            <a:srgbClr val="2DC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3172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53619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项目架构总览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148840"/>
            <a:ext cx="548640" cy="457200"/>
          </a:xfrm>
          <a:prstGeom prst="roundRect">
            <a:avLst/>
          </a:prstGeom>
          <a:solidFill>
            <a:srgbClr val="2DC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22199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五智能体协作管线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2834640"/>
            <a:ext cx="548640" cy="457200"/>
          </a:xfrm>
          <a:prstGeom prst="roundRect">
            <a:avLst/>
          </a:prstGeom>
          <a:solidFill>
            <a:srgbClr val="2DC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2880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90779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单题处理完整流程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3520440"/>
            <a:ext cx="548640" cy="457200"/>
          </a:xfrm>
          <a:prstGeom prst="roundRect">
            <a:avLst/>
          </a:prstGeom>
          <a:solidFill>
            <a:srgbClr val="2DC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59359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核心创新点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4206240"/>
            <a:ext cx="548640" cy="457200"/>
          </a:xfrm>
          <a:prstGeom prst="roundRect">
            <a:avLst/>
          </a:prstGeom>
          <a:solidFill>
            <a:srgbClr val="2DC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720" y="42519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27939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BUG 修复清单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4892040"/>
            <a:ext cx="548640" cy="457200"/>
          </a:xfrm>
          <a:prstGeom prst="roundRect">
            <a:avLst/>
          </a:prstGeom>
          <a:solidFill>
            <a:srgbClr val="2DC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31720" y="49377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96519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配置与文件结构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5577840"/>
            <a:ext cx="548640" cy="457200"/>
          </a:xfrm>
          <a:prstGeom prst="roundRect">
            <a:avLst/>
          </a:prstGeom>
          <a:solidFill>
            <a:srgbClr val="2DC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20" y="56235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565099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设计原则与总结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  <a:latin typeface="Microsoft YaHei"/>
              </a:defRPr>
            </a:pPr>
            <a:r>
              <a:t>01  项目架构总览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188720"/>
            <a:ext cx="2103120" cy="5486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1234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用户提问 (Problem)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56DB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011680"/>
            <a:ext cx="3017520" cy="6400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57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ReasoningAgent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user_agent.py · 平台入口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651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56DB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926080"/>
            <a:ext cx="3931920" cy="7315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2971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Orchestrator 编排器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2461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orchestrator.py · 调度 + 调控 + 兜底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3657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56DB"/>
                </a:solidFill>
                <a:latin typeface="Microsoft YaHei"/>
              </a:defRPr>
            </a:pPr>
            <a:r>
              <a:t>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023360"/>
            <a:ext cx="1463040" cy="914400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0690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Classifier</a:t>
            </a:r>
            <a:br/>
            <a:r>
              <a:t>题型识别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434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EE"/>
                </a:solidFill>
                <a:latin typeface="Microsoft YaHei"/>
              </a:defRPr>
            </a:pPr>
            <a:r>
              <a:t>classifier.py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3657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56DB"/>
                </a:solidFill>
                <a:latin typeface="Microsoft YaHei"/>
              </a:defRPr>
            </a:pPr>
            <a:r>
              <a:t>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86200" y="4023360"/>
            <a:ext cx="1463040" cy="914400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40690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Solver</a:t>
            </a:r>
            <a:br/>
            <a:r>
              <a:t>多候选求解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4434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EE"/>
                </a:solidFill>
                <a:latin typeface="Microsoft YaHei"/>
              </a:defRPr>
            </a:pPr>
            <a:r>
              <a:t>solver.py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3657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56DB"/>
                </a:solidFill>
                <a:latin typeface="Microsoft YaHei"/>
              </a:defRPr>
            </a:pPr>
            <a:r>
              <a:t>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80" y="4023360"/>
            <a:ext cx="1463040" cy="914400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40690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Verifier</a:t>
            </a:r>
            <a:br/>
            <a:r>
              <a:t>聚类验证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434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EE"/>
                </a:solidFill>
                <a:latin typeface="Microsoft YaHei"/>
              </a:defRPr>
            </a:pPr>
            <a:r>
              <a:t>verifier.py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3657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56DB"/>
                </a:solidFill>
                <a:latin typeface="Microsoft YaHei"/>
              </a:defRPr>
            </a:pPr>
            <a:r>
              <a:t>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38359" y="4023360"/>
            <a:ext cx="1463040" cy="914400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38359" y="40690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Formatter</a:t>
            </a:r>
            <a:br/>
            <a:r>
              <a:t>答案规范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59" y="4434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EE"/>
                </a:solidFill>
                <a:latin typeface="Microsoft YaHei"/>
              </a:defRPr>
            </a:pPr>
            <a:r>
              <a:t>formatter.py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3657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56DB"/>
                </a:solidFill>
                <a:latin typeface="Microsoft YaHei"/>
              </a:defRPr>
            </a:pPr>
            <a:r>
              <a:t>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664440" y="4023360"/>
            <a:ext cx="1463040" cy="914400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664440" y="40690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Base</a:t>
            </a:r>
            <a:br/>
            <a:r>
              <a:t>基础组件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664440" y="4434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EE"/>
                </a:solidFill>
                <a:latin typeface="Microsoft YaHei"/>
              </a:defRPr>
            </a:pPr>
            <a:r>
              <a:t>base.py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1188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CC70"/>
                </a:solidFill>
                <a:latin typeface="Microsoft YaHei"/>
              </a:defRPr>
            </a:pPr>
            <a:r>
              <a:t>外部能力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1554480"/>
            <a:ext cx="2011680" cy="365760"/>
          </a:xfrm>
          <a:prstGeom prst="roundRect">
            <a:avLst/>
          </a:prstGeom>
          <a:solidFill>
            <a:srgbClr val="1C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15819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SymPy 符号计算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2011680"/>
            <a:ext cx="2011680" cy="365760"/>
          </a:xfrm>
          <a:prstGeom prst="roundRect">
            <a:avLst/>
          </a:prstGeom>
          <a:solidFill>
            <a:srgbClr val="1C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2039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LLM Client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2468880"/>
            <a:ext cx="2011680" cy="365760"/>
          </a:xfrm>
          <a:prstGeom prst="roundRect">
            <a:avLst/>
          </a:prstGeom>
          <a:solidFill>
            <a:srgbClr val="1C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24963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Budget 预算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2926080"/>
            <a:ext cx="2011680" cy="365760"/>
          </a:xfrm>
          <a:prstGeom prst="roundRect">
            <a:avLst/>
          </a:prstGeom>
          <a:solidFill>
            <a:srgbClr val="1C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29535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Trace 追溯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CC70"/>
                </a:solidFill>
                <a:latin typeface="Microsoft YaHei"/>
              </a:defRPr>
            </a:pPr>
            <a:r>
              <a:t>新增亮点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0" y="1554480"/>
            <a:ext cx="2743200" cy="365760"/>
          </a:xfrm>
          <a:prstGeom prst="round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1581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CC70"/>
                </a:solidFill>
                <a:latin typeface="Microsoft YaHei"/>
              </a:defRPr>
            </a:pPr>
            <a:r>
              <a:t>Proof 证明题通道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44000" y="2011680"/>
            <a:ext cx="2743200" cy="365760"/>
          </a:xfrm>
          <a:prstGeom prst="round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35440" y="2039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CC70"/>
                </a:solidFill>
                <a:latin typeface="Microsoft YaHei"/>
              </a:defRPr>
            </a:pPr>
            <a:r>
              <a:t>Schain 思考链防护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0" y="2468880"/>
            <a:ext cx="2743200" cy="365760"/>
          </a:xfrm>
          <a:prstGeom prst="round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5440" y="24963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CC70"/>
                </a:solidFill>
                <a:latin typeface="Microsoft YaHei"/>
              </a:defRPr>
            </a:pPr>
            <a:r>
              <a:t>Lemma 引理积累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44000" y="2926080"/>
            <a:ext cx="2743200" cy="365760"/>
          </a:xfrm>
          <a:prstGeom prst="round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35440" y="29535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CC70"/>
                </a:solidFill>
                <a:latin typeface="Microsoft YaHei"/>
              </a:defRPr>
            </a:pPr>
            <a:r>
              <a:t>Eval 评测闭环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DEE"/>
                </a:solidFill>
                <a:latin typeface="Microsoft YaHei"/>
              </a:defRPr>
            </a:pPr>
            <a:r>
              <a:t>平台入口 ReasoningAgent.solve() → Orchestrator.run() → 串联 5 个协作智能体 → final_response + trace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  <a:latin typeface="Microsoft YaHei"/>
              </a:defRPr>
            </a:pPr>
            <a:r>
              <a:t>02  五智能体协作管线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743200" cy="5029200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2743200" cy="6400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ClassifierAgent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DDEE"/>
                </a:solidFill>
                <a:latin typeface="Microsoft YaHei"/>
              </a:defRPr>
            </a:pPr>
            <a:r>
              <a:t>classifier.py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题型识别 → 输出 domain</a:t>
            </a:r>
            <a:br/>
            <a:r>
              <a:t>识别：arithmetic/algebra/calculus/</a:t>
            </a:r>
            <a:br/>
            <a:r>
              <a:t>geometry/proof/combinatorics/…</a:t>
            </a:r>
            <a:br/>
            <a:r>
              <a:t>按领域注入解题方向提示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188720"/>
            <a:ext cx="2743200" cy="5029200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1188720"/>
            <a:ext cx="2743200" cy="640080"/>
          </a:xfrm>
          <a:prstGeom prst="roundRect">
            <a:avLst/>
          </a:prstGeom>
          <a:solidFill>
            <a:srgbClr val="2DC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SolverAgent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5087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DDEE"/>
                </a:solidFill>
                <a:latin typeface="Microsoft YaHei"/>
              </a:defRPr>
            </a:pPr>
            <a:r>
              <a:t>solver.py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01168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多候选并行求解</a:t>
            </a:r>
            <a:br/>
            <a:r>
              <a:t>• 温度分层 [0.1|0.3|0.5]</a:t>
            </a:r>
            <a:br/>
            <a:r>
              <a:t>• 领域自适应候选数</a:t>
            </a:r>
            <a:br/>
            <a:r>
              <a:t>• 证明题专用通道 (_generate_proof)</a:t>
            </a:r>
            <a:br/>
            <a:r>
              <a:t>• 纠错重解 (_generate_revise)</a:t>
            </a:r>
            <a:br/>
            <a:r>
              <a:t>• 引理上下文注入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188720"/>
            <a:ext cx="2743200" cy="5029200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59" y="1188720"/>
            <a:ext cx="2743200" cy="6400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799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VerifierAgent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799" y="15087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DDEE"/>
                </a:solidFill>
                <a:latin typeface="Microsoft YaHei"/>
              </a:defRPr>
            </a:pPr>
            <a:r>
              <a:t>verifier.py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01168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聚类验证 + 共识投票</a:t>
            </a:r>
            <a:br/>
            <a:r>
              <a:t>• 每候选 1-2 次并发投票</a:t>
            </a:r>
            <a:br/>
            <a:r>
              <a:t>• 多维评分模式 (4维JSON)</a:t>
            </a:r>
            <a:br/>
            <a:r>
              <a:t>• 等价答案聚类 (_equiv_group)</a:t>
            </a:r>
            <a:br/>
            <a:r>
              <a:t>• 簇级置信度排序</a:t>
            </a:r>
            <a:br/>
            <a:r>
              <a:t>• 证明题逐步骤验证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19" y="1188720"/>
            <a:ext cx="2743200" cy="5029200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89719" y="1188720"/>
            <a:ext cx="2743200" cy="640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59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FormatterAgent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59" y="15087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DDEE"/>
                </a:solidFill>
                <a:latin typeface="Microsoft YaHei"/>
              </a:defRPr>
            </a:pPr>
            <a:r>
              <a:t>formatter.py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01168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答案规范化 + 最终输出</a:t>
            </a:r>
            <a:br/>
            <a:r>
              <a:t>• _pick_best 共识聚类加权</a:t>
            </a:r>
            <a:br/>
            <a:r>
              <a:t>• is_valid_final_answer 终检</a:t>
            </a:r>
            <a:br/>
            <a:r>
              <a:t>• 绝不输出'无法求解'等拒绝语</a:t>
            </a:r>
            <a:br/>
            <a:r>
              <a:t>• 多级退路保证非空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  <a:latin typeface="Microsoft YaHei"/>
              </a:defRPr>
            </a:pPr>
            <a:r>
              <a:t>03  单题处理完整流程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371600"/>
            <a:ext cx="822960" cy="82296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Classifi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1463040" cy="1371600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题型识别 → 领域+难度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DCC70"/>
                </a:solidFill>
                <a:latin typeface="Microsoft YaHei"/>
              </a:defRPr>
            </a:pPr>
            <a:r>
              <a:t>≈ 0.3s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508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56D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2423160" y="1371600"/>
            <a:ext cx="822960" cy="82296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15087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17830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Fast Pat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3120" y="2468880"/>
            <a:ext cx="1463040" cy="1371600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256032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SymPy 符号求解</a:t>
            </a:r>
            <a:br/>
            <a:r>
              <a:t>成功→短路返回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931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DCC70"/>
                </a:solidFill>
                <a:latin typeface="Microsoft YaHei"/>
              </a:defRPr>
            </a:pPr>
            <a:r>
              <a:t>≈ 0.5s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508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56D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4069080" y="1371600"/>
            <a:ext cx="822960" cy="82296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69080" y="15087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17830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Solver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49039" y="2468880"/>
            <a:ext cx="1463040" cy="1371600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256032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多候选生成</a:t>
            </a:r>
            <a:br/>
            <a:r>
              <a:t>温度分层+引理注入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931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DCC70"/>
                </a:solidFill>
                <a:latin typeface="Microsoft YaHei"/>
              </a:defRPr>
            </a:pPr>
            <a:r>
              <a:t>≈ 1.5s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1508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56D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5715000" y="1371600"/>
            <a:ext cx="822960" cy="82296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15087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17830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Verifier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94960" y="2468880"/>
            <a:ext cx="1463040" cy="1371600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256032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聚类投票</a:t>
            </a:r>
            <a:br/>
            <a:r>
              <a:t>等价分组+簇置信度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3931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DCC70"/>
                </a:solidFill>
                <a:latin typeface="Microsoft YaHei"/>
              </a:defRPr>
            </a:pPr>
            <a:r>
              <a:t>≈ 2.0s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1508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56D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2" name="Oval 31"/>
          <p:cNvSpPr/>
          <p:nvPr/>
        </p:nvSpPr>
        <p:spPr>
          <a:xfrm>
            <a:off x="7360920" y="1371600"/>
            <a:ext cx="822960" cy="82296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60920" y="15087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17830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Regulate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40880" y="2468880"/>
            <a:ext cx="1463040" cy="1371600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0" y="256032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三档自主调控</a:t>
            </a:r>
            <a:br/>
            <a:r>
              <a:t>高/中/低置信度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3931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DCC70"/>
                </a:solidFill>
                <a:latin typeface="Microsoft YaHei"/>
              </a:defRPr>
            </a:pPr>
            <a:r>
              <a:t>≈ 0.3s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1508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56D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9" name="Oval 38"/>
          <p:cNvSpPr/>
          <p:nvPr/>
        </p:nvSpPr>
        <p:spPr>
          <a:xfrm>
            <a:off x="9006840" y="1371600"/>
            <a:ext cx="822960" cy="82296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6840" y="15087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17830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Formatte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0" y="2468880"/>
            <a:ext cx="1463040" cy="1371600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40" y="256032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答案选择+终检</a:t>
            </a:r>
            <a:br/>
            <a:r>
              <a:t>共识加权+去拒绝语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3931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DCC70"/>
                </a:solidFill>
                <a:latin typeface="Microsoft YaHei"/>
              </a:defRPr>
            </a:pPr>
            <a:r>
              <a:t>≈ 0.2s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1508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56D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6" name="Oval 45"/>
          <p:cNvSpPr/>
          <p:nvPr/>
        </p:nvSpPr>
        <p:spPr>
          <a:xfrm>
            <a:off x="10652760" y="1371600"/>
            <a:ext cx="822960" cy="82296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652760" y="15087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52760" y="17830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Fallback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332720" y="2468880"/>
            <a:ext cx="1463040" cy="1371600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24160" y="256032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异常兜底</a:t>
            </a:r>
            <a:br/>
            <a:r>
              <a:t>候选→LLM→原文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98480" y="3931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DCC70"/>
                </a:solidFill>
                <a:latin typeface="Microsoft YaHei"/>
              </a:defRPr>
            </a:pPr>
            <a:r>
              <a:t>≈ 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74C3C"/>
                </a:solidFill>
                <a:latin typeface="Microsoft YaHei"/>
              </a:defRPr>
            </a:pPr>
            <a:r>
              <a:t>⚡ 异常兜底链：流程异常 → _fallback: 候选最佳 → 单次LLM → 原问题文本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CC70"/>
                </a:solidFill>
                <a:latin typeface="Microsoft YaHei"/>
              </a:defRPr>
            </a:pPr>
            <a:r>
              <a:t>🛡 断流防护：任一环节崩溃都不会返回空字符串或'无法求解'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Microsoft YaHei"/>
              </a:defRPr>
            </a:pPr>
            <a:r>
              <a:t>📊 可追溯：每步决策（fast_path / generate / control / revise / fallback）均写入 trace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  <a:latin typeface="Microsoft YaHei"/>
              </a:defRPr>
            </a:pPr>
            <a:r>
              <a:t>04  核心创新点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566160" cy="2468880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566160" cy="457200"/>
          </a:xfrm>
          <a:prstGeom prst="roundRect">
            <a:avLst/>
          </a:prstGeom>
          <a:solidFill>
            <a:srgbClr val="2DC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SymPy 快车道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CCDDEE"/>
                </a:solidFill>
                <a:latin typeface="Microsoft YaHei"/>
              </a:defRPr>
            </a:pPr>
            <a:r>
              <a:t>5类确定性题目直接符号求解</a:t>
            </a:r>
            <a:br/>
            <a:r>
              <a:t>arithmetic/derivative/integral/det/eq</a:t>
            </a:r>
            <a:br/>
            <a:r>
              <a:t>短路返回，又快又准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17520"/>
            <a:ext cx="3291840" cy="9144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A0B0C0"/>
                </a:solidFill>
                <a:latin typeface="Microsoft YaHei"/>
              </a:defRPr>
            </a:pPr>
            <a:r>
              <a:t>📎 对标 ss-main tool_hints</a:t>
            </a:r>
            <a:br/>
            <a:r>
              <a:t>升级版 build_tool_hints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188720"/>
            <a:ext cx="3566160" cy="2468880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188720"/>
            <a:ext cx="3566160" cy="457200"/>
          </a:xfrm>
          <a:prstGeom prst="roundRect">
            <a:avLst/>
          </a:prstGeom>
          <a:solidFill>
            <a:srgbClr val="2DC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234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跨候选共识聚类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7830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CCDDEE"/>
                </a:solidFill>
                <a:latin typeface="Microsoft YaHei"/>
              </a:defRPr>
            </a:pPr>
            <a:r>
              <a:t>AnswerCluster 等价分组</a:t>
            </a:r>
            <a:br/>
            <a:r>
              <a:t>簇级置信度 = 组内正确票/总票</a:t>
            </a:r>
            <a:br/>
            <a:r>
              <a:t>共识加权选择，不再是单候选投票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3017520"/>
            <a:ext cx="3291840" cy="9144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A0B0C0"/>
                </a:solidFill>
                <a:latin typeface="Microsoft YaHei"/>
              </a:defRPr>
            </a:pPr>
            <a:r>
              <a:t>📎 对标 ss-main voting.py</a:t>
            </a:r>
            <a:br/>
            <a:r>
              <a:t>从文本等价升级为符号等价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188720"/>
            <a:ext cx="3566160" cy="2468880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1188720"/>
            <a:ext cx="3566160" cy="457200"/>
          </a:xfrm>
          <a:prstGeom prst="roundRect">
            <a:avLst/>
          </a:prstGeom>
          <a:solidFill>
            <a:srgbClr val="2DC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234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多维评分模式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7830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CCDDEE"/>
                </a:solidFill>
                <a:latin typeface="Microsoft YaHei"/>
              </a:defRPr>
            </a:pPr>
            <a:r>
              <a:t>correctness / logic / clarity</a:t>
            </a:r>
            <a:br/>
            <a:r>
              <a:t>completeness / overall 五维评分</a:t>
            </a:r>
            <a:br/>
            <a:r>
              <a:t>平局打破 + 置信度校准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3017520"/>
            <a:ext cx="3291840" cy="9144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A0B0C0"/>
                </a:solidFill>
                <a:latin typeface="Microsoft YaHei"/>
              </a:defRPr>
            </a:pPr>
            <a:r>
              <a:t>📎 对标 math_agent scoring</a:t>
            </a:r>
            <a:br/>
            <a:r>
              <a:t>已完整接线 use_scoring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31920"/>
            <a:ext cx="3566160" cy="2468880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3931920"/>
            <a:ext cx="3566160" cy="457200"/>
          </a:xfrm>
          <a:prstGeom prst="roundRect">
            <a:avLst/>
          </a:prstGeom>
          <a:solidFill>
            <a:srgbClr val="2DC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97763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证明题专用通道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5262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CCDDEE"/>
                </a:solidFill>
                <a:latin typeface="Microsoft YaHei"/>
              </a:defRPr>
            </a:pPr>
            <a:r>
              <a:t>PROOF_SYSTEM 分步编号求解</a:t>
            </a:r>
            <a:br/>
            <a:r>
              <a:t>反证法/归纳法/构造法模板</a:t>
            </a:r>
            <a:br/>
            <a:r>
              <a:t>_verify_proof_step 逐步骤验证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760720"/>
            <a:ext cx="3291840" cy="9144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852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A0B0C0"/>
                </a:solidFill>
                <a:latin typeface="Microsoft YaHei"/>
              </a:defRPr>
            </a:pPr>
            <a:r>
              <a:t>📎 对标 math_agent proof_solver</a:t>
            </a:r>
            <a:br/>
            <a:r>
              <a:t>+ Intern-MO lemma 机制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931920"/>
            <a:ext cx="3566160" cy="2468880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89120" y="3931920"/>
            <a:ext cx="3566160" cy="457200"/>
          </a:xfrm>
          <a:prstGeom prst="roundRect">
            <a:avLst/>
          </a:prstGeom>
          <a:solidFill>
            <a:srgbClr val="2DC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397763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引理积累机制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5262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CCDDEE"/>
                </a:solidFill>
                <a:latin typeface="Microsoft YaHei"/>
              </a:defRPr>
            </a:pPr>
            <a:r>
              <a:t>LemmaRepo 存储已验证子结论</a:t>
            </a:r>
            <a:br/>
            <a:r>
              <a:t>跨轮复用，作为上下文注入</a:t>
            </a:r>
            <a:br/>
            <a:r>
              <a:t>最多保留5条防token爆炸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80" y="5760720"/>
            <a:ext cx="3291840" cy="9144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5852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A0B0C0"/>
                </a:solidFill>
                <a:latin typeface="Microsoft YaHei"/>
              </a:defRPr>
            </a:pPr>
            <a:r>
              <a:t>📎 对标 Intern-MO</a:t>
            </a:r>
            <a:br/>
            <a:r>
              <a:t>Lemma Repository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3931920"/>
            <a:ext cx="3566160" cy="2468880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29600" y="3931920"/>
            <a:ext cx="3566160" cy="457200"/>
          </a:xfrm>
          <a:prstGeom prst="roundRect">
            <a:avLst/>
          </a:prstGeom>
          <a:solidFill>
            <a:srgbClr val="2DC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60" y="397763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思考链污染检测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45262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CCDDEE"/>
                </a:solidFill>
                <a:latin typeface="Microsoft YaHei"/>
              </a:defRPr>
            </a:pPr>
            <a:r>
              <a:t>检测英文 thinking chain 污染</a:t>
            </a:r>
            <a:br/>
            <a:r>
              <a:t>ENGLISH_THINK_PATTERNS 6类</a:t>
            </a:r>
            <a:br/>
            <a:r>
              <a:t>模板泄露检测 (detect_template_leak)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66760" y="5760720"/>
            <a:ext cx="3291840" cy="9144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60" y="5852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A0B0C0"/>
                </a:solidFill>
                <a:latin typeface="Microsoft YaHei"/>
              </a:defRPr>
            </a:pPr>
            <a:r>
              <a:t>📎 对标 math_agent</a:t>
            </a:r>
            <a:br/>
            <a:r>
              <a:t>ENGLISH_THINK_PATTERNS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  <a:latin typeface="Microsoft YaHei"/>
              </a:defRPr>
            </a:pPr>
            <a:r>
              <a:t>05  BUG 修复清单 (14项)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669280" cy="566928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02920" cy="56692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07007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致命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1155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Microsoft YaHei"/>
              </a:defRPr>
            </a:pPr>
            <a:r>
              <a:t>BUG-0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533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Microsoft YaHei"/>
              </a:defRPr>
            </a:pPr>
            <a:r>
              <a:t>问题: 3.10+ 注解致导入崩溃  →  修复: 全部 .py 加 from __future__ import annotations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097280"/>
            <a:ext cx="5669280" cy="566928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1097280"/>
            <a:ext cx="502920" cy="56692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207007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致命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1155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Microsoft YaHei"/>
              </a:defRPr>
            </a:pPr>
            <a:r>
              <a:t>BUG-1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3533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Microsoft YaHei"/>
              </a:defRPr>
            </a:pPr>
            <a:r>
              <a:t>问题: 失败返回"无法求解"判0分  →  修复: 永不输出拒绝语 + 多级退路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755648"/>
            <a:ext cx="5669280" cy="566928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" y="1755648"/>
            <a:ext cx="502920" cy="56692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86537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17739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Microsoft YaHei"/>
              </a:defRPr>
            </a:pPr>
            <a:r>
              <a:t>BUG-2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0116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Microsoft YaHei"/>
              </a:defRPr>
            </a:pPr>
            <a:r>
              <a:t>问题: "不正确"被误判为"正确"  →  修复: 拒绝词优先判定 + VERDICT 行解析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755648"/>
            <a:ext cx="5669280" cy="566928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60" y="1755648"/>
            <a:ext cx="502920" cy="56692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86537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17739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Microsoft YaHei"/>
              </a:defRPr>
            </a:pPr>
            <a:r>
              <a:t>BUG-3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0116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Microsoft YaHei"/>
              </a:defRPr>
            </a:pPr>
            <a:r>
              <a:t>问题: _equiv_group 死代码  →  修复: 实际使用返回值，符号等价聚类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2414015"/>
            <a:ext cx="5669280" cy="566928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65760" y="2414015"/>
            <a:ext cx="502920" cy="56692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52374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243230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Microsoft YaHei"/>
              </a:defRPr>
            </a:pPr>
            <a:r>
              <a:t>BUG-4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26700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Microsoft YaHei"/>
              </a:defRPr>
            </a:pPr>
            <a:r>
              <a:t>问题: normalize_answer 未调用  →  修复: 接入 _equiv_group 与共识判定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2414015"/>
            <a:ext cx="5669280" cy="566928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09360" y="2414015"/>
            <a:ext cx="502920" cy="56692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252374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43230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Microsoft YaHei"/>
              </a:defRPr>
            </a:pPr>
            <a:r>
              <a:t>BUG-5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26700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Microsoft YaHei"/>
              </a:defRPr>
            </a:pPr>
            <a:r>
              <a:t>问题: 续写后旧 verdict 仍生效  →  修复: 续写后清除旧票 + 重验证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3072384"/>
            <a:ext cx="5669280" cy="566928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5760" y="3072384"/>
            <a:ext cx="502920" cy="56692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31821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3090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Microsoft YaHei"/>
              </a:defRPr>
            </a:pPr>
            <a:r>
              <a:t>BUG-6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332841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Microsoft YaHei"/>
              </a:defRPr>
            </a:pPr>
            <a:r>
              <a:t>问题: client.chat 无裁剪/重试  →  修复: max_tokens_cap + 双兼容 + 半量重试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3072384"/>
            <a:ext cx="5669280" cy="566928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309360" y="3072384"/>
            <a:ext cx="502920" cy="566928"/>
          </a:xfrm>
          <a:prstGeom prst="roundRect">
            <a:avLst/>
          </a:prstGeom>
          <a:solidFill>
            <a:srgbClr val="2DC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31821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3090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CC70"/>
                </a:solidFill>
                <a:latin typeface="Microsoft YaHei"/>
              </a:defRPr>
            </a:pPr>
            <a:r>
              <a:t>BUG-8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332841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Microsoft YaHei"/>
              </a:defRPr>
            </a:pPr>
            <a:r>
              <a:t>问题: temp=0 置信度仅 0/1  →  修复: 分母 valid_votes + conf_high→0.8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3730752"/>
            <a:ext cx="5669280" cy="566928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65760" y="3730752"/>
            <a:ext cx="502920" cy="566928"/>
          </a:xfrm>
          <a:prstGeom prst="roundRect">
            <a:avLst/>
          </a:prstGeom>
          <a:solidFill>
            <a:srgbClr val="2DC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38404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37490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CC70"/>
                </a:solidFill>
                <a:latin typeface="Microsoft YaHei"/>
              </a:defRPr>
            </a:pPr>
            <a:r>
              <a:t>BUG-10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98678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Microsoft YaHei"/>
              </a:defRPr>
            </a:pPr>
            <a:r>
              <a:t>问题: 多行答案被截断  →  修复: 贪婪匹配 + 节标记裁剪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09360" y="3730752"/>
            <a:ext cx="5669280" cy="566928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309360" y="3730752"/>
            <a:ext cx="502920" cy="566928"/>
          </a:xfrm>
          <a:prstGeom prst="roundRect">
            <a:avLst/>
          </a:prstGeom>
          <a:solidFill>
            <a:srgbClr val="2DC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38404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37490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CC70"/>
                </a:solidFill>
                <a:latin typeface="Microsoft YaHei"/>
              </a:defRPr>
            </a:pPr>
            <a:r>
              <a:t>BUG-11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398678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Microsoft YaHei"/>
              </a:defRPr>
            </a:pPr>
            <a:r>
              <a:t>问题: 无标记时取叙述文本  →  修复: 两层提取: 本地正则→模型兜底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65760" y="4389120"/>
            <a:ext cx="5669280" cy="566928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65760" y="4389120"/>
            <a:ext cx="502920" cy="566928"/>
          </a:xfrm>
          <a:prstGeom prst="roundRect">
            <a:avLst/>
          </a:prstGeom>
          <a:solidFill>
            <a:srgbClr val="2DC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44988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" y="440740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CC70"/>
                </a:solidFill>
                <a:latin typeface="Microsoft YaHei"/>
              </a:defRPr>
            </a:pPr>
            <a:r>
              <a:t>BUG-12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" y="46451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Microsoft YaHei"/>
              </a:defRPr>
            </a:pPr>
            <a:r>
              <a:t>问题: 缺 _is_valid_final_answer  →  修复: 拒绝语终检 + 非法答案回退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09360" y="4389120"/>
            <a:ext cx="5669280" cy="566928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309360" y="4389120"/>
            <a:ext cx="502920" cy="566928"/>
          </a:xfrm>
          <a:prstGeom prst="roundRect">
            <a:avLst/>
          </a:prstGeom>
          <a:solidFill>
            <a:srgbClr val="2DC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55080" y="44988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49440" y="440740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CC70"/>
                </a:solidFill>
                <a:latin typeface="Microsoft YaHei"/>
              </a:defRPr>
            </a:pPr>
            <a:r>
              <a:t>BUG-13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49440" y="46451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Microsoft YaHei"/>
              </a:defRPr>
            </a:pPr>
            <a:r>
              <a:t>问题: 忽略多候选同答共识  →  修复: 共识聚类加权选最优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65760" y="5047488"/>
            <a:ext cx="5669280" cy="566928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365760" y="5047488"/>
            <a:ext cx="502920" cy="566928"/>
          </a:xfrm>
          <a:prstGeom prst="roundRect">
            <a:avLst/>
          </a:prstGeom>
          <a:solidFill>
            <a:srgbClr val="2DC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1480" y="515721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" y="50657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CC70"/>
                </a:solidFill>
                <a:latin typeface="Microsoft YaHei"/>
              </a:defRPr>
            </a:pPr>
            <a:r>
              <a:t>BUG-14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5840" y="53035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Microsoft YaHei"/>
              </a:defRPr>
            </a:pPr>
            <a:r>
              <a:t>问题: ctx.candidates[cid] 索引脆弱  →  修复: 遍历匹配替代索引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  <a:latin typeface="Microsoft YaHei"/>
              </a:defRPr>
            </a:pPr>
            <a:r>
              <a:t>06  配置与文件结构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CC70"/>
                </a:solidFill>
                <a:latin typeface="Microsoft YaHei"/>
              </a:defRPr>
            </a:pPr>
            <a:r>
              <a:t>policy_sample_times=3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初始候选数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59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CC70"/>
                </a:solidFill>
                <a:latin typeface="Microsoft YaHei"/>
              </a:defRPr>
            </a:pPr>
            <a:r>
              <a:t>verifier_voting_times=5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59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每候选投票次数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CC70"/>
                </a:solidFill>
                <a:latin typeface="Microsoft YaHei"/>
              </a:defRPr>
            </a:pPr>
            <a:r>
              <a:t>conf_high=0.855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高置信度阈值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59" y="1645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CC70"/>
                </a:solidFill>
                <a:latin typeface="Microsoft YaHei"/>
              </a:defRPr>
            </a:pPr>
            <a:r>
              <a:t>conf_low=0.35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59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低置信度阈值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CC70"/>
                </a:solidFill>
                <a:latin typeface="Microsoft YaHei"/>
              </a:defRPr>
            </a:pPr>
            <a:r>
              <a:t>max_revise_rounds=3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最大纠错轮数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59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CC70"/>
                </a:solidFill>
                <a:latin typeface="Microsoft YaHei"/>
              </a:defRPr>
            </a:pPr>
            <a:r>
              <a:t>max_total_calls=150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59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LLM 调用预算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CC70"/>
                </a:solidFill>
                <a:latin typeface="Microsoft YaHei"/>
              </a:defRPr>
            </a:pPr>
            <a:r>
              <a:t>max_tokens_cap=4096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Token 裁剪上限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59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CC70"/>
                </a:solidFill>
                <a:latin typeface="Microsoft YaHei"/>
              </a:defRPr>
            </a:pPr>
            <a:r>
              <a:t>use_scoring=True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59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多维评分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CC70"/>
                </a:solidFill>
                <a:latin typeface="Microsoft YaHei"/>
              </a:defRPr>
            </a:pPr>
            <a:r>
              <a:t>use_proof_channel=True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证明题通道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59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CC70"/>
                </a:solidFill>
                <a:latin typeface="Microsoft YaHei"/>
              </a:defRPr>
            </a:pPr>
            <a:r>
              <a:t>use_lemma_accumulation=True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59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引理积累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490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DB"/>
                </a:solidFill>
                <a:latin typeface="Microsoft YaHei"/>
              </a:defRPr>
            </a:pPr>
            <a:r>
              <a:t>文件结构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97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user_agent.py        平台入口 + AgentConfig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590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agent/__init__.py    包导出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8828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agent/base.py        TaskContext/Budget/BaseAgent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1755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agent/classifier.py  题型识别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4681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agent/solver.py      多候选求解 + 证明题通道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760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agent/verifier.py    聚类投票 + 符号等价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0533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agent/orchestrator.py 编排调度 + 自主调控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34593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agent/formatter.py   答案规范化 + 终检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297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prompts/policy.py    策略生成提示词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590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prompts/verifier.py  验证 + 评分提示词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8828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prompts/revise.py    纠错重解提示词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1755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CC70"/>
                </a:solidFill>
                <a:latin typeface="Microsoft YaHei"/>
              </a:defRPr>
            </a:pPr>
            <a:r>
              <a:t>prompts/proof.py     证明题专用提示词 (新)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4681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utils/__init__.py    工具导出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760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utils/extract.py     答案提取 + 两层兜底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60533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CC70"/>
                </a:solidFill>
                <a:latin typeface="Microsoft YaHei"/>
              </a:defRPr>
            </a:pPr>
            <a:r>
              <a:t>utils/sympy_tools.py SymPy 符号工具 (新)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634593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CC70"/>
                </a:solidFill>
                <a:latin typeface="Microsoft YaHei"/>
              </a:defRPr>
            </a:pPr>
            <a:r>
              <a:t>run_eval.py          本地评测工具 (新)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  <a:latin typeface="Microsoft YaHei"/>
              </a:defRPr>
            </a:pPr>
            <a:r>
              <a:t>07  设计原则与总结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566160" cy="2286000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566160" cy="54864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4864" cy="22860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Microsoft YaHei"/>
              </a:defRPr>
            </a:pPr>
            <a:r>
              <a:t>断流防护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116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任一环节崩溃均通过 fallback 链返回有效答案，绝不输出拒绝语或空字符串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188720"/>
            <a:ext cx="3566160" cy="2286000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188720"/>
            <a:ext cx="3566160" cy="54864"/>
          </a:xfrm>
          <a:prstGeom prst="roundRect">
            <a:avLst/>
          </a:prstGeom>
          <a:solidFill>
            <a:srgbClr val="2DC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188720"/>
            <a:ext cx="54864" cy="2286000"/>
          </a:xfrm>
          <a:prstGeom prst="roundRect">
            <a:avLst/>
          </a:prstGeom>
          <a:solidFill>
            <a:srgbClr val="2DC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CC70"/>
                </a:solidFill>
                <a:latin typeface="Microsoft YaHei"/>
              </a:defRPr>
            </a:pPr>
            <a:r>
              <a:t>优雅降级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SymPy 未装跳过快车道；评分失败回退二元投票；证明通道失败退回通用求解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188720"/>
            <a:ext cx="3566160" cy="2286000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1188720"/>
            <a:ext cx="3566160" cy="54864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0" y="1188720"/>
            <a:ext cx="54864" cy="22860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Microsoft YaHei"/>
              </a:defRPr>
            </a:pPr>
            <a:r>
              <a:t>预算硬上限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0116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Budget 控制器 + can_spend 双重防超，竞赛平台永不触发超额调用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49039"/>
            <a:ext cx="3566160" cy="2286000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3749039"/>
            <a:ext cx="3566160" cy="54864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3749039"/>
            <a:ext cx="54864" cy="22860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402335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E44AD"/>
                </a:solidFill>
                <a:latin typeface="Microsoft YaHei"/>
              </a:defRPr>
            </a:pPr>
            <a:r>
              <a:t>结构化追溯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45720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每步决策均写入 ctx.trace，支持决赛 Trace 维度评分与调试定位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749039"/>
            <a:ext cx="3566160" cy="2286000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89120" y="3749039"/>
            <a:ext cx="3566160" cy="54864"/>
          </a:xfrm>
          <a:prstGeom prst="roundRect">
            <a:avLst/>
          </a:prstGeom>
          <a:solidFill>
            <a:srgbClr val="2DC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89120" y="3749039"/>
            <a:ext cx="54864" cy="2286000"/>
          </a:xfrm>
          <a:prstGeom prst="roundRect">
            <a:avLst/>
          </a:prstGeom>
          <a:solidFill>
            <a:srgbClr val="2DC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402335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CC70"/>
                </a:solidFill>
                <a:latin typeface="Microsoft YaHei"/>
              </a:defRPr>
            </a:pPr>
            <a:r>
              <a:t>自主调控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5720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三档分支: 高置信早退 → 中置信追加 → 低置信纠错回环，全自动无人工干预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749039"/>
            <a:ext cx="3566160" cy="2286000"/>
          </a:xfrm>
          <a:prstGeom prst="roundRect">
            <a:avLst/>
          </a:prstGeom>
          <a:solidFill>
            <a:srgbClr val="2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0" y="3749039"/>
            <a:ext cx="3566160" cy="54864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0" y="3749039"/>
            <a:ext cx="54864" cy="22860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402335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Microsoft YaHei"/>
              </a:defRPr>
            </a:pPr>
            <a:r>
              <a:t>跨候选共识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5720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等价答案聚类 + 簇级多数投票替代单候选重复投票，更准确且省调用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CC70"/>
                </a:solidFill>
                <a:latin typeface="Microsoft YaHei"/>
              </a:defRPr>
            </a:pPr>
            <a:r>
              <a:t>MathPilot — 仿照高分样例设计，自有多智能体主线，SymPy真实计算 + 聚类投票 + 自主调控 + 永不拒绝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A56DB"/>
                </a:solidFill>
                <a:latin typeface="Microsoft YaHei"/>
              </a:defRPr>
            </a:pPr>
            <a:r>
              <a:t>Thanks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DDEE"/>
                </a:solidFill>
                <a:latin typeface="Microsoft YaHei"/>
              </a:defRPr>
            </a:pPr>
            <a:r>
              <a:t>MathPilot · csust-qiming-math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CC70"/>
                </a:solidFill>
                <a:latin typeface="Microsoft YaHei"/>
              </a:defRPr>
            </a:pPr>
            <a:r>
              <a:t>https://gitcode.com/csust-qiming-math/MathPilot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