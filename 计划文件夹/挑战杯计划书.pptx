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2286000" cy="2926080"/>
          </a:xfrm>
          <a:prstGeom prst="rect">
            <a:avLst/>
          </a:prstGeom>
          <a:solidFill>
            <a:srgbClr val="1A2E42">
              <a:alpha val="70000"/>
            </a:srgbClr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097280"/>
            <a:ext cx="1920240" cy="2560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3716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00C5FF"/>
                </a:solidFill>
              </a:rPr>
              <a:t>AI · MATH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300" kern="0" dirty="0">
                <a:solidFill>
                  <a:srgbClr val="00C5FF"/>
                </a:solidFill>
              </a:rPr>
              <a:t>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640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D166"/>
                </a:solidFill>
              </a:rPr>
              <a:t>🏆  挑战杯·揭榜挂帅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基于 Intern-S1 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5FF"/>
                </a:solidFill>
              </a:rPr>
              <a:t>数学智能体设计与推理创新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3657600" cy="36576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432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📋  赛题编号：XH-202627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1272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🏢  发榜单位：上海人工智能实验室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5112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📅  报名截止：2026年6月30日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8953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⏰  初赛提交：2026年9月5日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长沙理工大学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BAAC2"/>
                </a:solidFill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09728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比赛核心要求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初赛/总决赛要求与评分标准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61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核心挑战与策略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本质分析 + 系统架构设计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50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2788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分阶段执行计划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044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6个阶段，从6月到9月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7744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450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83480" y="2788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创新点设计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044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必做创新 + 加分项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639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94360" y="3977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技术架构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项目结构 + 核心技术栈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393192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566160"/>
            <a:ext cx="64008" cy="10058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639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5FF"/>
                </a:solidFill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83480" y="3977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风险与应对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5大风险评估与应对措施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比赛核心要求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37160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3840480" cy="329184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初赛要求（9月5日前提交）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84048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FF"/>
                </a:solidFill>
              </a:rPr>
              <a:t>✅ 推理求解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理解自然语言数学问题，自主规划思路并求解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384048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FF"/>
                </a:solidFill>
              </a:rPr>
              <a:t>✅ 过程解释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以启发式表达方式解释推理过程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84048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FF"/>
                </a:solidFill>
              </a:rPr>
              <a:t>✅ 结构化输出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必须输出 JSON 格式结果（严格要求）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384048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FF"/>
                </a:solidFill>
              </a:rPr>
              <a:t>✅ 多类型稳健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覆盖18个子领域，共112道题目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685800"/>
            <a:ext cx="4206240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685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🏅  评分标准（总分100分）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20624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97280"/>
            <a:ext cx="64008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887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D6A0"/>
                </a:solidFill>
              </a:rPr>
              <a:t>60%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答案正确性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4081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客观线性计分，必须输出JSON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783080"/>
            <a:ext cx="420624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783080"/>
            <a:ext cx="64008" cy="59436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5FF"/>
                </a:solidFill>
              </a:rPr>
              <a:t>20%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1837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展示质量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0939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Demo、视频、报告完整性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468880"/>
            <a:ext cx="420624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468880"/>
            <a:ext cx="64008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60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</a:rPr>
              <a:t>10%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推理策略设计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7797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模块设计、推理链、协作逻辑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3154680"/>
            <a:ext cx="420624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154680"/>
            <a:ext cx="6400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2461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</a:rPr>
              <a:t>10%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9496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创新性扩展性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4655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机制创新、可迁移性、推广潜力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A102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❌  不允许仅通过提示词堆叠作答 | ❌  不允许人工逐题干预 | ✅  必须输出结构化 JSON + 日志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数学智能体系统架构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64592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685800"/>
            <a:ext cx="274320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685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📥  用户输入数学问题（自然语言）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07992" y="1773936"/>
            <a:ext cx="128016" cy="182880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7992" y="2432304"/>
            <a:ext cx="128016" cy="182880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3090672"/>
            <a:ext cx="128016" cy="182880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3749040"/>
            <a:ext cx="128016" cy="182880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298448"/>
            <a:ext cx="310896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1298448"/>
            <a:ext cx="73152" cy="475488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335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① 题型分类器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自动识别18个子领域  PDE / 复分析 / 拓扑...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956816"/>
            <a:ext cx="310896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FA3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1956816"/>
            <a:ext cx="73152" cy="475488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93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② 知识检索 (RAG)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54680" y="2203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IMA知识库召回相关  公式、方法、例题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0" y="2615184"/>
            <a:ext cx="310896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17520" y="2615184"/>
            <a:ext cx="73152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651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③ 推理规划 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54680" y="2862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CoT + 演绎推理  知识增强Prompt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3273552"/>
            <a:ext cx="310896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17520" y="3273552"/>
            <a:ext cx="73152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310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④ Intern-S1 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5468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调用模型推理  （不改变模型参数）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17520" y="3931920"/>
            <a:ext cx="310896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E06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017520" y="3931920"/>
            <a:ext cx="73152" cy="475488"/>
          </a:xfrm>
          <a:prstGeom prst="rect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968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⑤ 过程校验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54680" y="4178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自验证：代入检查  量纲验证、逻辑审查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07992" y="4407408"/>
            <a:ext cx="128016" cy="201168"/>
          </a:xfrm>
          <a:prstGeom prst="rect">
            <a:avLst/>
          </a:prstGeom>
          <a:solidFill>
            <a:srgbClr val="8BAAC2"/>
          </a:solidFill>
          <a:ln w="12700">
            <a:solidFill>
              <a:srgbClr val="8BAA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4608576"/>
            <a:ext cx="3657600" cy="402336"/>
          </a:xfrm>
          <a:prstGeom prst="rect">
            <a:avLst/>
          </a:prstGeom>
          <a:solidFill>
            <a:srgbClr val="062A15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0" y="46085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</a:rPr>
              <a:t>⑥  输出：JSON { answer, reasoning, steps, verification 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2"/>
                </a:solidFill>
              </a:rPr>
              <a:t>🎯  不改变模型参数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2"/>
                </a:solidFill>
              </a:rPr>
              <a:t>🧩  Agent多模块协作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8895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2"/>
                </a:solidFill>
              </a:rPr>
              <a:t>📚  RAG知识库注入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419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2"/>
                </a:solidFill>
              </a:rPr>
              <a:t>✍️  Prompt Engineering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1554480"/>
            <a:ext cx="27432" cy="2743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分阶段执行计划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37160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8412480" cy="36576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52728"/>
            <a:ext cx="274320" cy="274320"/>
          </a:xfrm>
          <a:prstGeom prst="ellipse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822960"/>
            <a:ext cx="36576" cy="54864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68580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685800"/>
            <a:ext cx="1325880" cy="64008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77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5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069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基础搭建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3350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5FF"/>
                </a:solidFill>
              </a:rPr>
              <a:t>6.8—6.22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5636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跑通API→Agent→JSON最小闭环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40280" y="1252728"/>
            <a:ext cx="274320" cy="274320"/>
          </a:xfrm>
          <a:prstGeom prst="ellipse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1527048"/>
            <a:ext cx="36576" cy="548640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214884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0FA3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83080" y="2148840"/>
            <a:ext cx="1325880" cy="64008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240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E5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2532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知识库建设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A3E5"/>
                </a:solidFill>
              </a:rPr>
              <a:t>6.15—7.6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28800" y="3026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18领域公式+方法+例题库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0" y="1252728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76472" y="822960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68580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685800"/>
            <a:ext cx="13258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777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069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13350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7.1—7.20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15636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长CoT+演绎推理+自验证模板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74920" y="1252728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93792" y="1527048"/>
            <a:ext cx="36576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14884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148840"/>
            <a:ext cx="132588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240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2532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过程校验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</a:rPr>
              <a:t>7.15—7.31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3026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数值验证+逻辑一致性+置信度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92240" y="1252728"/>
            <a:ext cx="274320" cy="2743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11112" y="822960"/>
            <a:ext cx="36576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68580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685800"/>
            <a:ext cx="13258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777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80760" y="1069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测试评估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13350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</a:rPr>
              <a:t>8.1—8.20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80760" y="15636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112题全量测试+逐领域调优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909560" y="1252728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28432" y="1527048"/>
            <a:ext cx="36576" cy="5486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52360" y="2148840"/>
            <a:ext cx="1325880" cy="1325880"/>
          </a:xfrm>
          <a:prstGeom prst="rect">
            <a:avLst/>
          </a:prstGeom>
          <a:solidFill>
            <a:srgbClr val="1A2E42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52360" y="2148840"/>
            <a:ext cx="132588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2240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</a:rPr>
              <a:t>06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498080" y="2532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文档提交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</a:rPr>
              <a:t>8.15—9.5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026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AC2"/>
                </a:solidFill>
              </a:rPr>
              <a:t>技术方案+视频+打包提交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🎯  关键里程碑：  基线跑通 (6.22)  →  知识库就绪 (7.6)  →  Prompt优化 (7.20)  →  测试通过 (8.20)  →  提交 (9.5)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280160" cy="34747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阶段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基础搭建  ·  6月8日 — 6月22日（2周）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目标：跑通 Intern-S1 API → 智能体 → JSON 输出的最小闭环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162438"/>
          </a:solidFill>
          <a:ln w="12700">
            <a:solidFill>
              <a:srgbClr val="1624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32688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32688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243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注册 Intern-S1 API，获取 Token，测试基本调用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1天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700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API 调用脚本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932688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32688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43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搭建 lagent 基线框架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00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2-3天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0" y="1700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可运行的 Agent 骨架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231136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31136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542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实现题型分类器（18类）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999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2天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2999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分类 Prompt + 测试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231136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31136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542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实现 CoT 推理链 Agent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999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2天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0" y="2999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基础解题 Agent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529584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29584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实现 JSON 格式化输出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1-2天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11680" y="4297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符合比赛要求的结构化输出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529584"/>
            <a:ext cx="402336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529584"/>
            <a:ext cx="64008" cy="118872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5FF"/>
                </a:solidFill>
              </a:rPr>
              <a:t>1.6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端到端跑通 5 道样题，验证全流程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</a:rPr>
              <a:t>🕐 2天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0" y="4297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AC2"/>
                </a:solidFill>
              </a:rPr>
              <a:t>📄 验证全流程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知识库建设 — 18个子领域覆盖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64592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13232"/>
            <a:ext cx="138988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偏微分方程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73352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713232"/>
            <a:ext cx="138988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8216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28216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复分析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18104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18104" y="713232"/>
            <a:ext cx="138988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2968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拓扑学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62856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713232"/>
            <a:ext cx="138988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运筹学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07608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608" y="713232"/>
            <a:ext cx="138988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62472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代数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52360" y="713232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713232"/>
            <a:ext cx="138988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804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07224" y="10149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数论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1463040"/>
            <a:ext cx="138988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几何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73352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3352" y="1463040"/>
            <a:ext cx="138988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28216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28216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概率论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18104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18104" y="1463040"/>
            <a:ext cx="138988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72968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72968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统计学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62856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2856" y="1463040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17720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泛函分析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07608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7608" y="1463040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62472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微分方程ODE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52360" y="1463040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1463040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07224" y="1764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组合数学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3464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图论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73352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73352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28216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728216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数值分析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118104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18104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72968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172968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实分析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62856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62856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61772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抽象代数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007608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62472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062472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数学物理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452360" y="2212848"/>
            <a:ext cx="1389888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2360" y="2212848"/>
            <a:ext cx="138988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07224" y="23042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07224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离散数学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28600" y="47365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C2"/>
                </a:solidFill>
              </a:rPr>
              <a:t>🔴 高优先级  🟡 中优先级  🟢 一般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创新点设计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09728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58368"/>
            <a:ext cx="3931920" cy="31089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🚀  必做创新点（对应A档评分）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182880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多Agent协作架构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题型分类→推理→校验→格式化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完整多智能体流水线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1828800" cy="210312"/>
          </a:xfrm>
          <a:prstGeom prst="rect">
            <a:avLst/>
          </a:prstGeom>
          <a:solidFill>
            <a:srgbClr val="062035"/>
          </a:solidFill>
          <a:ln w="12700">
            <a:solidFill>
              <a:srgbClr val="062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665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5FF"/>
                </a:solidFill>
              </a:rPr>
              <a:t>📊 推理策略 10分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77440" y="1042416"/>
            <a:ext cx="182880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1444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领域自适应Prompt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719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18子领域各自独立优化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的Prompt模板体系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2066544"/>
            <a:ext cx="1828800" cy="210312"/>
          </a:xfrm>
          <a:prstGeom prst="rect">
            <a:avLst/>
          </a:prstGeom>
          <a:solidFill>
            <a:srgbClr val="062035"/>
          </a:solidFill>
          <a:ln w="12700">
            <a:solidFill>
              <a:srgbClr val="062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0665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5FF"/>
                </a:solidFill>
              </a:rPr>
              <a:t>📊 推理策略 10分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182880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过程校验闭环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自动验证→错误时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自动触发重新推理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438144"/>
            <a:ext cx="1828800" cy="210312"/>
          </a:xfrm>
          <a:prstGeom prst="rect">
            <a:avLst/>
          </a:prstGeom>
          <a:solidFill>
            <a:srgbClr val="062035"/>
          </a:solidFill>
          <a:ln w="12700">
            <a:solidFill>
              <a:srgbClr val="062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381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5FF"/>
                </a:solidFill>
              </a:rPr>
              <a:t>📊 创新性 10分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77440" y="2414016"/>
            <a:ext cx="182880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2816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启发式解释生成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不仅展示推理，还生成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AAC2"/>
                </a:solidFill>
              </a:rPr>
              <a:t>教育性可读解释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77440" y="3438144"/>
            <a:ext cx="1828800" cy="210312"/>
          </a:xfrm>
          <a:prstGeom prst="rect">
            <a:avLst/>
          </a:prstGeom>
          <a:solidFill>
            <a:srgbClr val="062035"/>
          </a:solidFill>
          <a:ln w="12700">
            <a:solidFill>
              <a:srgbClr val="062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4381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5FF"/>
                </a:solidFill>
              </a:rPr>
              <a:t>📊 创新性 10分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0" y="658368"/>
            <a:ext cx="4206240" cy="3108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658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⭐  加分创新点（冲击擂主）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1042416"/>
            <a:ext cx="4206240" cy="749808"/>
          </a:xfrm>
          <a:prstGeom prst="rect">
            <a:avLst/>
          </a:prstGeom>
          <a:solidFill>
            <a:srgbClr val="1A2E42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04241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🔮  超长程推理管理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复杂多轮推理的中间状态管理与回溯机制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1911096"/>
            <a:ext cx="4206240" cy="749808"/>
          </a:xfrm>
          <a:prstGeom prst="rect">
            <a:avLst/>
          </a:prstGeom>
          <a:solidFill>
            <a:srgbClr val="1A2E42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191109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🚦  题型自动路由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2258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根据问题特征自动选择最优求解策略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2779776"/>
            <a:ext cx="4206240" cy="749808"/>
          </a:xfrm>
          <a:prstGeom prst="rect">
            <a:avLst/>
          </a:prstGeom>
          <a:solidFill>
            <a:srgbClr val="1A2E42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277977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🔧  外部工具集成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09160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集成SymPy符号计算，数值求解器辅助验证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3648456"/>
            <a:ext cx="4206240" cy="749808"/>
          </a:xfrm>
          <a:prstGeom prst="rect">
            <a:avLst/>
          </a:prstGeom>
          <a:solidFill>
            <a:srgbClr val="1A2E42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364845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📈  知识库自进化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0916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解题过程中发现的新方法自动入库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技术架构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91440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00C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5800"/>
            <a:ext cx="64008" cy="694944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777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5FF"/>
                </a:solidFill>
              </a:rPr>
              <a:t>Agent框架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033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InternLM/lagent  （官方基线）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0FA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685800"/>
            <a:ext cx="64008" cy="694944"/>
          </a:xfrm>
          <a:prstGeom prst="rect">
            <a:avLst/>
          </a:prstGeom>
          <a:solidFill>
            <a:srgbClr val="0FA3E5"/>
          </a:solidFill>
          <a:ln w="12700">
            <a:solidFill>
              <a:srgbClr val="0FA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777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A3E5"/>
                </a:solidFill>
              </a:rPr>
              <a:t>模型API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9472" y="1033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Intern-S1 API  ·  Studio控制台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08760"/>
            <a:ext cx="64008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知识库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腾讯 IMA（已接入）  ·  RAG召回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08760"/>
            <a:ext cx="64008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符号计算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SymPy  ·  辅助验证计算结果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31720"/>
            <a:ext cx="64008" cy="69494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</a:rPr>
              <a:t>Demo前端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Gradio / Streamlit  ·  快速构建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331720"/>
            <a:ext cx="64008" cy="6949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评测系统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自研  ·  批量跑分 + 报告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54680"/>
            <a:ext cx="402336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154680"/>
            <a:ext cx="64008" cy="6949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版本控制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 + GitHub  ·  MolightMA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8412480" cy="694944"/>
          </a:xfrm>
          <a:prstGeom prst="rect">
            <a:avLst/>
          </a:prstGeom>
          <a:solidFill>
            <a:srgbClr val="1A2E42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54680"/>
            <a:ext cx="64008" cy="6949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项目结构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35021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agent/  ·  prompts/  ·  knowledge/  ·  evaluation/  ·  api/  ·  demo/  ·  docs/  ·  scripts/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风险识别与应对措施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64592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8412480" cy="694944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85800"/>
            <a:ext cx="64008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限流影响批量测试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🚨  提前测试流控上限，设计请求间隔与重试策略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777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概率: 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777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影响: 高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8412480" cy="694944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481328"/>
            <a:ext cx="64008" cy="6949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某些子领域模型能力不足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874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🚨  强化该领域知识库 + Prompt，必要时用数值方法兜底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572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概率: 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1572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影响: 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276856"/>
            <a:ext cx="8412480" cy="694944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76856"/>
            <a:ext cx="64008" cy="6949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 格式输出不稳定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🚨  多层级格式校验 + 自动修复 Parser + 重试机制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368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概率: 中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2368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影响: 高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072384"/>
            <a:ext cx="8412480" cy="694944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72384"/>
            <a:ext cx="64008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63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时间紧张，功能未完成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4655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🚨  优先保证60%客观分（答案正确率），再争取主观分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概率: 中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影响: 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867912"/>
            <a:ext cx="8412480" cy="694944"/>
          </a:xfrm>
          <a:prstGeom prst="rect">
            <a:avLst/>
          </a:prstGeom>
          <a:solidFill>
            <a:srgbClr val="1A2E42"/>
          </a:solidFill>
          <a:ln w="12700">
            <a:solidFill>
              <a:srgbClr val="16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67912"/>
            <a:ext cx="64008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知识库内容覆盖不足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2611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2"/>
                </a:solidFill>
              </a:rPr>
              <a:t>🚨  先覆盖🔴高优先级4个领域，逐步扩充到全部18个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3959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</a:rPr>
              <a:t>概率: 低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0" y="3959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影响: 中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本周立即行动清单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30352"/>
            <a:ext cx="1371600" cy="27432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949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694944"/>
            <a:ext cx="731520" cy="32918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6949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今天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786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804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01.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注册 Intern-S1 API，获取 Token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6949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694944"/>
            <a:ext cx="731520" cy="32918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6949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今天-明天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786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804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02.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435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克隆 lagent 基线框架，跑通 Demo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0665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2066544"/>
            <a:ext cx="731520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0665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明天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03.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6151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测试 API 调用（简单数学题）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0665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2066544"/>
            <a:ext cx="731520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0665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明天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04.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6151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搭建项目骨架（目录结构 + Git）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4381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3438144"/>
            <a:ext cx="731520" cy="329184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4381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本周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5FF"/>
                </a:solidFill>
              </a:rPr>
              <a:t>05.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9867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整理第一批知识库内容（PDE + 复分析）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402336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3438144"/>
            <a:ext cx="731520" cy="329184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34381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本周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57800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5FF"/>
                </a:solidFill>
              </a:rPr>
              <a:t>06.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9867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设计第一版 System Prompt 模板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A2E42">
              <a:alpha val="30000"/>
            </a:srgbClr>
          </a:solidFill>
          <a:ln w="6350">
            <a:solidFill>
              <a:srgbClr val="0FA3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3200400" cy="3200400"/>
          </a:xfrm>
          <a:prstGeom prst="ellipse">
            <a:avLst/>
          </a:prstGeom>
          <a:solidFill>
            <a:srgbClr val="162438">
              <a:alpha val="50000"/>
            </a:srgbClr>
          </a:solidFill>
          <a:ln w="6350">
            <a:solidFill>
              <a:srgbClr val="00C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C5FF"/>
                </a:solidFill>
              </a:rPr>
              <a:t>WE ARE READY!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让数学智能体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走向更高舞台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27432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🏆  目标：初赛高分入围，总决赛冲刺奖项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🤖  基于 Intern-S1 API + 多 Agent 协作架构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📅  截止：2026年9月5日初赛提交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2"/>
                </a:solidFill>
              </a:rPr>
              <a:t>🔗  GitHub: github.com/Molight1007/-csust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长沙理工大学  ·  XH-202627  ·  2026 挑战杯揭榜挂帅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挑战杯揭榜挂帅 - 基于Intern-S1的数学智能体</dc:title>
  <dc:subject>PptxGenJS Presentation</dc:subject>
  <dc:creator>CSUST Team</dc:creator>
  <cp:lastModifiedBy>CSUST Team</cp:lastModifiedBy>
  <cp:revision>1</cp:revision>
  <dcterms:created xsi:type="dcterms:W3CDTF">2026-06-08T02:42:58Z</dcterms:created>
  <dcterms:modified xsi:type="dcterms:W3CDTF">2026-06-08T02:42:58Z</dcterms:modified>
</cp:coreProperties>
</file>