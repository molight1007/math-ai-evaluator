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100584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挑战杯 · 揭榜挂帅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Intern-S1 的数学智能体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设计与推理创新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项目计划书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发榜单位：上海人工智能实验室    赛题编号：XH-202627    协办单位：AtomGit 社区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4389120"/>
            <a:ext cx="64008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389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英雄不问出处，创新不问出身，擂台之上见高低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更新日期：2026-07-22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一、赛事概况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挑战杯揭榜挂帅专项赛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 挑战杯简介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由共青团中央、中国科协、教育部和全国学联共同主办的全国性大学生课外学术实践竞赛。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2026年度聚焦 AI、新能源、新材料等 8 大前沿领域，严选 103 个榜题，吸引全国上千所高校、十余万名学子参赛。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组织架构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主办单位：2026年度中国青年「揭榜挂帅」擂台赛书生命题大赛组委会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发榜单位：上海人工智能实验室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协办单位：AtomGit 社区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本大赛最终解释权归组委会所有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CCFB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Intern-S1 CMO 成绩亮点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2025 年全国中学生数学奥林匹克竞赛中斩获 102 分，位列大模型榜首且远超金牌线，解题思路被阅卷专家评价为「新的解法」。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5166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5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5212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" y="5669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5166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5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0" y="5212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60320" y="5669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前沿领域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5166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5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5212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10万+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5669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参赛学子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5166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5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5212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2万+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49440" y="5669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创新作品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二、发榜单位 — 上海人工智能实验室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🏛 实验室定位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我国人工智能领域新型科研机构，聚焦通用人工智能（AGI）核心技术突破。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目标：建成国际一流实验室与全球 AI 原创理论和技术策源地。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35661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参赛要求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9776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参赛对象：全日制在校专科/本科/硕博研究生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团队规模：不超过 10 人，指导教师 ≤ 3 名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可跨专业、跨学校、跨地域组队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技术成果体系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书生系列大模型（语言/视觉/多模态）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科学计算共性平台（材料/药物等）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司南评测体系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Intern-S1 科学多模态大模型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5661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639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 赛程关键节点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39776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报名结束：6月30日    平台注册：7月1日-9月15日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作品提交：7月28日-9月15日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初赛评审：9月20日    终审擂台赛：11月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三、赛程安排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5 月 — 11 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组队报名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5636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5/30 – 6/30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0" y="1280160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38988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挑战杯官网报名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提交盖章报名表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8470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平台注册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313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 – 9/15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28800" y="2029968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65960" y="2139696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大赛平台注册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含判分能力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59689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79776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7797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作品提交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0632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7/28 – 9/15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779776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965960" y="2889504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AtomGit 推送代码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12:00/24:00 评测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3467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529584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5295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初赛评审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8130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828800" y="3529584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65960" y="363931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发榜单位初审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确定晋级名单 &lt; 30 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09651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⬇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279392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279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终审完善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5628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月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828800" y="4279392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965960" y="438912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专家指导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完善作品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⬇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5029200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5029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擂台赛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5312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月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828800" y="5029200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965960" y="513892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角逐擂主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地点待定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28800" y="566928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965960" y="57424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关键日期：作品提交截止 9月15日 / 初赛评审 9月20日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四、比赛核心要求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技术规范与约束条件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618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接口契约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平台固定调用入口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agent.solve(problem, metadata) → dict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必须返回 final_response（非空）和 trace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2618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入口规范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60020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文件：user_agent.py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类名：ReasoningAgent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构造函数接收 client 参数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禁止硬编码 API Key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禁止使用绝对路径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2618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返回约束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60020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final_response 非空可读字符串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trace 数组记录推理步骤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字典整体必须 JSON 可序列化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trace 内禁止写入敏感数据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7307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必有能力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06908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推理求解 / 过程解释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 / 多类型稳健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18 子领域 112 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6576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37307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禁止行为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406908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仅 Prompt 堆叠代替 Agent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人工逐题干预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硬编码密钥 + 恶意代码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读取评测答案 / Judger 逻辑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6576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37307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优化方向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406908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多轮推理 / 多候选校验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 / RAG 知识检索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 形式化验证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 CoT + 演绎规划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五、自动判分系统机制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AtomGit 平台评测流程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2801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32588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AtomGit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报名组队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4128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70432" y="12801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132588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推送代码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分支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11680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57984" y="12801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E0F2FE"/>
          </a:solidFill>
          <a:ln/>
        </p:spPr>
      </p:sp>
      <p:sp>
        <p:nvSpPr>
          <p:cNvPr id="12" name="Text 10"/>
          <p:cNvSpPr/>
          <p:nvPr/>
        </p:nvSpPr>
        <p:spPr>
          <a:xfrm>
            <a:off x="2157984" y="132588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提交作品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99232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45536" y="12801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E0F2FE"/>
          </a:solidFill>
          <a:ln/>
        </p:spPr>
      </p:sp>
      <p:sp>
        <p:nvSpPr>
          <p:cNvPr id="15" name="Text 13"/>
          <p:cNvSpPr/>
          <p:nvPr/>
        </p:nvSpPr>
        <p:spPr>
          <a:xfrm>
            <a:off x="3145536" y="132588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12:00/24:00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定时采集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86784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33088" y="12801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E0F2FE"/>
          </a:solidFill>
          <a:ln/>
        </p:spPr>
      </p:sp>
      <p:sp>
        <p:nvSpPr>
          <p:cNvPr id="18" name="Text 16"/>
          <p:cNvSpPr/>
          <p:nvPr/>
        </p:nvSpPr>
        <p:spPr>
          <a:xfrm>
            <a:off x="4133088" y="132588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拉取代码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依赖安装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74336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12801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CCFBF1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32588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批量推理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61888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08192" y="12801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CCFBF1"/>
          </a:solidFill>
          <a:ln/>
        </p:spPr>
      </p:sp>
      <p:sp>
        <p:nvSpPr>
          <p:cNvPr id="24" name="Text 22"/>
          <p:cNvSpPr/>
          <p:nvPr/>
        </p:nvSpPr>
        <p:spPr>
          <a:xfrm>
            <a:off x="6108192" y="132588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采集数据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统计资源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49440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95744" y="12801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7095744" y="132588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Judger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校验打分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936992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83296" y="12801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8083296" y="132588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榜单刷新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展示分数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65176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1480" y="27249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提交频次限制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06324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单日最大：2 次（12:00 / 24:00）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单周累计：10 次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仅推送代码不提交 = 不进入评测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评测期间修改 main = 版本错乱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265176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29000" y="27249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🔐 评测环境规则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29000" y="306324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私有闭源测试集（112 题）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Client 平台全权托管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 Key 全部失效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不下发题目 / 答案 / 反馈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异常标记：加载失败/超时/安全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265176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46520" y="2724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项目结构要求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46520" y="306324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user_agent.py      【必填】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requirements.txt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prompts/       提示词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utils/          工具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所有路径使用相对路径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526280"/>
            <a:ext cx="8595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" y="45994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🚨 常见异常分类（对照排查）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1480" y="4937760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报名权限类：未完成组队 / 仓库无权限    分支提交流程：无main分支 / 未点击提交 / 提交后改代码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代码规范类：缺失user_agent.py / 类名不符 / JSON序列化失败    运行环境类：依赖安装失败 / 超时 / 绝对路径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安全违规类：硬编码密钥 / 恶意逻辑 / 绕过管控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六、评分规则与奖项设置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64592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1188720"/>
            <a:ext cx="201168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188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0" y="1188720"/>
            <a:ext cx="128016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评分方式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1188720"/>
            <a:ext cx="347472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关键说明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5727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答案正确性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1572768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0" y="1572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23360" y="1572768"/>
            <a:ext cx="1280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15727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客观线性计分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0" y="1572768"/>
            <a:ext cx="3474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572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正确率 × 60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938528"/>
            <a:ext cx="16459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9385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展示质量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0" y="1938528"/>
            <a:ext cx="201168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0" y="1938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23360" y="1938528"/>
            <a:ext cx="128016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0" y="19385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主观分档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1938528"/>
            <a:ext cx="34747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9385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Demo/视频/报告完整性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304288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3042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推理策略与系统设计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2304288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011680" y="23042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23360" y="2304288"/>
            <a:ext cx="1280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0" y="2304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主观分档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0" y="2304288"/>
            <a:ext cx="3474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23042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模块设计/推理链组织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670048"/>
            <a:ext cx="16459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2670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创新性与可扩展性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11680" y="2670048"/>
            <a:ext cx="201168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2011680" y="26700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23360" y="2670048"/>
            <a:ext cx="128016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4023360" y="26700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主观分档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03520" y="2670048"/>
            <a:ext cx="34747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0" y="26700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机制创新/可迁移性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310896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8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6576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🥇 擂主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6576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名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¥100,000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2148840" y="310896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8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14884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🥈 特等奖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14884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名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14884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¥20,000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3931920" y="310896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8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93192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🥉 一等奖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93192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名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93192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¥10,000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715000" y="310896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8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71500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🏅 二等奖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71500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名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71500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¥5,000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7498080" y="310896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8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49808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🏅 三等奖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49808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名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49808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¥2,000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365760" y="484632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02920" y="491947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补充说明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02920" y="52578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以上奖金为税后，待组委会通知后发放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表现优异者有机会进入上海人工智能实验室人才储备池，优先获得实习及就业推荐机会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实际发奖数量依据作品提交整体情况及评审结果确定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同分场景：trace 规范性 &gt; 推理设计复杂度 &gt; Token 效率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七、项目核心策略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比赛本质分析与系统架构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比赛本质分析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这是一个智能体设计比赛，不是模型微调比赛。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18 子领域 × 112 题，跨度极大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必须展示推理过程，不能只给答案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必须 JSON 输出，格式错误 = 0 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评测不可见（无题目/答案/反馈）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474720"/>
            <a:ext cx="41148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547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🧩 核心思路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886200"/>
            <a:ext cx="38404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不改 Intern-S1 模型参数（比赛不允许微调）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 Agent 设计实现多模块协作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RAG 知识库注入领域知识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Prompt Engineering 引导推理链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创新引入 Lean 4 形式化验证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符合比赛「鼓励智能体设计创新」精神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206240" cy="48463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 系统架构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6916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题型分类 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984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类自动识别路由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577840" y="22219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3774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RAG 知识检索层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6700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 / 领域方法召回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577840" y="29077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0632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推理求解 Agent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3355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 CoT + 演绎推理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577840" y="35935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7490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 Intern-S1 API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4041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多轮调用（不改参数）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577840" y="42793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44348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 多重过程校验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4727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自验证 / DS 评判 / Lean 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577840" y="49651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51206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 JSON 格式化输出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5413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final_response + trace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八、项目当前进度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整体完成度约 65%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4864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468112" cy="54864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整体进度：65%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评测基础设施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993392"/>
            <a:ext cx="3200400" cy="237744"/>
          </a:xfrm>
          <a:prstGeom prst="roundRect">
            <a:avLst>
              <a:gd name="adj" fmla="val 38462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993392"/>
            <a:ext cx="3040380" cy="237744"/>
          </a:xfrm>
          <a:prstGeom prst="roundRect">
            <a:avLst>
              <a:gd name="adj" fmla="val 38462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9202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1920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已完成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题库管理系统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2450592"/>
            <a:ext cx="3200400" cy="237744"/>
          </a:xfrm>
          <a:prstGeom prst="roundRect">
            <a:avLst>
              <a:gd name="adj" fmla="val 38462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2450592"/>
            <a:ext cx="2880360" cy="237744"/>
          </a:xfrm>
          <a:prstGeom prst="roundRect">
            <a:avLst>
              <a:gd name="adj" fmla="val 38462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377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0" y="2377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已完成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图形界面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2907792"/>
            <a:ext cx="3200400" cy="237744"/>
          </a:xfrm>
          <a:prstGeom prst="roundRect">
            <a:avLst>
              <a:gd name="adj" fmla="val 38462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2926080" y="2907792"/>
            <a:ext cx="2880360" cy="237744"/>
          </a:xfrm>
          <a:prstGeom prst="roundRect">
            <a:avLst>
              <a:gd name="adj" fmla="val 38462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834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已完成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 4 形式化验证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3364992"/>
            <a:ext cx="3200400" cy="237744"/>
          </a:xfrm>
          <a:prstGeom prst="roundRect">
            <a:avLst>
              <a:gd name="adj" fmla="val 38462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2926080" y="3364992"/>
            <a:ext cx="2560320" cy="237744"/>
          </a:xfrm>
          <a:prstGeom prst="roundRect">
            <a:avLst>
              <a:gd name="adj" fmla="val 38462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2918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3291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核心完成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user_agent.py 适配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26080" y="3822192"/>
            <a:ext cx="3200400" cy="237744"/>
          </a:xfrm>
          <a:prstGeom prst="roundRect">
            <a:avLst>
              <a:gd name="adj" fmla="val 38462"/>
            </a:avLst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2926080" y="3822192"/>
            <a:ext cx="3200400" cy="237744"/>
          </a:xfrm>
          <a:prstGeom prst="roundRect">
            <a:avLst>
              <a:gd name="adj" fmla="val 38462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749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0" y="3749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已适配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多智能体协作系统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0" y="4279392"/>
            <a:ext cx="3200400" cy="237744"/>
          </a:xfrm>
          <a:prstGeom prst="roundRect">
            <a:avLst>
              <a:gd name="adj" fmla="val 38462"/>
            </a:avLst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2926080" y="4279392"/>
            <a:ext cx="320040" cy="237744"/>
          </a:xfrm>
          <a:prstGeom prst="roundRect">
            <a:avLst>
              <a:gd name="adj" fmla="val 38462"/>
            </a:avLst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42062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4206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待开发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663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子领域知识库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26080" y="4736592"/>
            <a:ext cx="3200400" cy="237744"/>
          </a:xfrm>
          <a:prstGeom prst="roundRect">
            <a:avLst>
              <a:gd name="adj" fmla="val 38462"/>
            </a:avLst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2926080" y="4736592"/>
            <a:ext cx="160020" cy="237744"/>
          </a:xfrm>
          <a:prstGeom prst="roundRect">
            <a:avLst>
              <a:gd name="adj" fmla="val 57143"/>
            </a:avLst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4663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4663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待建设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5120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112 题全量评测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26080" y="5193792"/>
            <a:ext cx="3200400" cy="237744"/>
          </a:xfrm>
          <a:prstGeom prst="roundRect">
            <a:avLst>
              <a:gd name="adj" fmla="val 38462"/>
            </a:avLst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5120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49440" y="5120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待对接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5577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技术方案文档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926080" y="5650992"/>
            <a:ext cx="3200400" cy="237744"/>
          </a:xfrm>
          <a:prstGeom prst="roundRect">
            <a:avLst>
              <a:gd name="adj" fmla="val 38462"/>
            </a:avLst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55778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49440" y="5577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待编写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九、分阶段执行计划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7月22日 — 9月15日，共约 8 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645920" cy="4846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2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887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490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7/22–7/31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平台适配与基础搭建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194560"/>
            <a:ext cx="1463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user_agent.py 适配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Docker 化部署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端到端本地评测模拟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65960" y="1188720"/>
            <a:ext cx="1645920" cy="4846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2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1887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96596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1490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8/1–8/15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05740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多智能体系统开发 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57400" y="2194560"/>
            <a:ext cx="1463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题型分类 Agent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RAG 知识检索模块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推理求解 Agent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过程校验 Agent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 编排器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49040" y="1188720"/>
            <a:ext cx="1645920" cy="4846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2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1887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1490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8/5–8/20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4048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知识库建设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2194560"/>
            <a:ext cx="1463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18 子领域知识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解题方法论文档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典型例题详解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领域专用 Prompt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32120" y="1188720"/>
            <a:ext cx="1645920" cy="4846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2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32120" y="11887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1490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8/15–9/10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62356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23560" y="2194560"/>
            <a:ext cx="1463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自建 200+ 题题库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本地全量基线测试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多轮迭代评测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Token 消耗优化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0" y="1188720"/>
            <a:ext cx="1645920" cy="4846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2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11887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第五阶段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1490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9/1–9/15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40664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提交冲刺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06640" y="2194560"/>
            <a:ext cx="1463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试探性提交验证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线上反馈调整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最优版本提交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展示视频制作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6217920"/>
            <a:ext cx="85953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十、创新点设计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冲击擂主的核心竞争力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Lean 4 形式化验证闭环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 → Lean 代码转化 → 编译验证 → 错误根因分析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国内同类比赛首创，推理结果有数学级别保证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0487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多 Agent 协作架构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题型分类 → RAG 检索 → 推理求解 → 过程校验 → JSON 输出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五模块协同，远高于单 Prompt 方案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54787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领域自适应 Prompt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子领域各自独立优化 Prompt + Few-shot 示例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弥补模型在特定领域的知识盲区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61772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69087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答案提取 + 格式化层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0292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三级提取策略（标记→boxed→末行）+ 多层校验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 final_response 格式标准统一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56692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7ED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57424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冲击擂主额外加分项：Web Demo 交互界面 | AND-OR DAG 证明树 | 超长程推理管理 | 外部工具集成 | 知识库自进化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十一、风险与应对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41248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1188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188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0" y="118872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应对措施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72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多智能体进度滞后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572768"/>
            <a:ext cx="7315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5727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572768"/>
            <a:ext cx="7315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5727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1572768"/>
            <a:ext cx="4663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5727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优先核心 Agent（分类+推理+校验），精简非核心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22860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75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某些领域模型能力不足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075688"/>
            <a:ext cx="7315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207568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2075688"/>
            <a:ext cx="7315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07568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2075688"/>
            <a:ext cx="46634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20756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强化知识库 + Prompt + Few-shot，数值方法兜底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578608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5786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格式输出不稳定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2578608"/>
            <a:ext cx="7315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257860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2578608"/>
            <a:ext cx="7315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257860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2578608"/>
            <a:ext cx="4663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25786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多层级格式校验 + 自动修复 + 重试机制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081528"/>
            <a:ext cx="22860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081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线上评测环境兼容问题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0" y="3081528"/>
            <a:ext cx="7315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0" y="30815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74720" y="3081528"/>
            <a:ext cx="7315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0" y="30815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06240" y="3081528"/>
            <a:ext cx="46634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4206240" y="30815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提前试探性提交，Docker 化确保环境一致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584448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5844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提交次数限制（周 10 次）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0" y="3584448"/>
            <a:ext cx="7315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0" y="358444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74720" y="3584448"/>
            <a:ext cx="7315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0" y="358444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06240" y="3584448"/>
            <a:ext cx="4663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206240" y="35844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本地充分测试后再提交，每次模拟全流程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087368"/>
            <a:ext cx="22860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087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预算超限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0" y="4087368"/>
            <a:ext cx="7315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0" y="40873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474720" y="4087368"/>
            <a:ext cx="7315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3474720" y="40873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206240" y="4087368"/>
            <a:ext cx="46634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4206240" y="40873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控制推理轮数，优化 Prompt 长度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十二、下一步行动 &amp; 联系方式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立即行动（本周 7/22 — 7/28）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8404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submit/ 本地真实测试（需 API Key）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推送 submit/ 代码至 AtomGit main 分支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Dockerfile 测试确保依赖零问题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开工高优先级领域知识库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（PDE / 复分析 / 拓扑学 / 运筹学）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优化 18 领域提示词精调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42519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4325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关键资源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66344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Intern-S API: internlm.intern-ai.org.cn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AtomGit 平台: 大赛提交主通道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知识库：「书生ai」已接入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GitHub: github.com/Molight1007/-csust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专家指导团队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8404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顾问专家 毛老师          18607133138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顾问专家 顾老师          15171489817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顾问专家 常老师          13917557174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联络专员 常老师          13917557174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联络专员 王老师          15330019133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联系时间：工作日 9:00-12:00 / 14:00-17:30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42519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4325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终审提交邮箱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466344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changshuai@pjlab.org.cn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内容：完整源码 + requirements.txt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说明文档 + 队伍信息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赛道名称 + AtomGit 地址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英雄不问出处，创新不问出身，擂台之上见高低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MathPilot 挑战杯项目计划书</dc:title>
  <dc:subject>PptxGenJS Presentation</dc:subject>
  <dc:creator>MathPilot Team</dc:creator>
  <cp:lastModifiedBy>MathPilot Team</cp:lastModifiedBy>
  <cp:revision>1</cp:revision>
  <dcterms:created xsi:type="dcterms:W3CDTF">2026-07-22T01:30:24Z</dcterms:created>
  <dcterms:modified xsi:type="dcterms:W3CDTF">2026-07-22T01:30:24Z</dcterms:modified>
</cp:coreProperties>
</file>